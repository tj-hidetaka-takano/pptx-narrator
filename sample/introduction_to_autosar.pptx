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本日は、車載ソフトウェアの標準である AUTOSAR を、車載以外の分野の方や新人の方に向けて、背景から解説します。特に新しい Adaptive Platform に重点を置きます。全15枚、1枚あたり約1分、合計15分を予定しています。出典は MONOist の連載『AUTOSARを使いこなす』です。専門外でも、皆さんが普段触れている Linux や C++、サービス指向といった技術と地続きの話として聞いていただければと思います。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進め方です。まず AUTOSAR とは何かという全体像と、なぜ標準化が必要になったのかという背景。次に従来からの Classic Platform の基本構造。そして本日の主題である Adaptive Platform を、登場の背景・アーキテクチャ・Classic との関係の順に。最後に両者の使い分けと、いま業界で話題の SDV との関係に触れます。専門外の方が全体像をつかむことを最優先にします。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AUTOSAR は AUTomotive Open System ARchitecture の略です。ポイントは、この言葉が二つの意味を持つことです。一つは『標準化団体』。2003年に設立され、完成車メーカー、部品サプライヤ、半導体メーカー、ツールベンダが参加する国際的な団体です。もう一つは、その団体が作る『標準仕様』そのもの。車載ECUのソフトウェアをどう作るかという共通の設計図です。そしてこれは机上の話ではなく、すでに量産車で広く使われている事実上の標準だ、という点を押さ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なぜ標準化が必要だったか。背景は四つです。まず、1台の車に載るECUの数が数十から100個を超えるまで増えたこと。次に、安全・快適・環境への要求でソフトウェアの規模が爆発的に増えたこと。三つ目に、メーカーやサプライヤごとに個別最適化され、同じような機能を毎回ゼロから作り直していたこと。四つ目に、ソフトとハードが密結合していて、マイコンを変えると作り直しになっていたこと。ここから、業界で共通の土台を作り、その上で各社が競う、という発想が生まれ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基本思想は三つの柱で理解できます。中心にあるのは『ハードウェアとソフトウェアの分離』。アプリケーションは共通インタフェース越しに動き、マイコンの違いは下の層が吸収します。これが効くと、二つ目の『ソフトウェアの再利用』が可能になります。標準化された部品を車種やサプライヤをまたいで使い回せる。三つ目が『相互運用性』。共通のインタフェース定義のおかげで、異なるベンダのソフトを組み合わせられます。象徴的なのが『標準では協調し、実装で競争する』という考え方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従来からある Classic Platform、略してCPです。構造はシンプルで、三つの層の積み重ねです。一番上が Application Layer。ここに SW-C と呼ばれるソフトウェア部品が並びます。真ん中が RTE。部品同士をつなぐ通信路で、設計上の仮想バス VFB を実体化したものです。一番下が BSW、基本ソフトウェアで、OSやドライバ、通信、診断などが入り、マイコンの違いを吸収します。特徴は、静的な構成、小さな静的OS、ハードリアルタイム性、C言語と小規模マイコン。用途はエンジンやブレーキ、ボディといった制御系ECUです。確実性が命の世界だと押さ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ところが、自動運転やコネクテッドの時代になって、CPだけでは足りなくなりました。左がCPの得意分野。決められた制御を確実に、小さく軽く止まらず、安全性とリアルタイム性を最優先する世界です。一方で右、新時代の要求はまったく性質が違います。カメラやLiDARの大量データ処理、クラウドやV2X、OTAといった車外との動的な通信、GPUやマルチコアといった高性能プロセッサ、そしてアプリを後から追加・更新したいというニーズ。静的で小規模なマイコンを前提とするCPでは、これらに応えきれない。ここが大きな転換点になりまし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ここからが本日の主題、Adaptive Platform、APです。連載によれば、運転支援や自動運転を量産車に本格投入するために、四つの要素が求められました。一つ目はコネクティビティ。車外のさまざまな相手との大容量で動的な通信。二つ目は高性能演算、HPC。GPUやマルチコアを使うこと。三つ目は既製品・オープンソースの活用で、膨らむ開発規模に対応すること。四つ目はサイバーセキュリティを含む広義の安全性。補足として、CPはハードリアルタイム性と安全性を優先する設計なので、これらを全部同時に満たすのは難しい。だから別の土台としてAPが用意された、という関係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ここで誤解しやすい点を一つ。APはCPを置き換えるものではありません。性質の異なる二つの基盤が、同じ車の中で共存します。Classic Platform は、確実で堅実な制御の担い手。エンジン、ブレーキ、ステアリング、ボディ系。止まらない・速い・安全が身上です。Adaptive Platform は、高機能で大規模な処理の担い手。自動運転、センサ統合、車載の高性能コンピューティング、ゲートウェイ。柔軟・高性能・つながる、そして後から更新できる、というのが特徴です。要するに適材適所、と覚えてくださ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APのアーキテクチャです。左の図を下から見てください。土台に Machine、これは実プロセッサのこともあれば、ハイパーバイザ上の仮想マシンのこともあります。その上にPOSIXベースのOS。汎用OSに近い動的な土台で、皆さんが使うLinuxやQNXの世界観に近いです。さらにその上が ARA、AUTOSAR Runtime for Adaptive Applications。これがCPのRTEとBSWに相当する部分で、C++のインタフェースで機能を提供します。一番上がアプリである AA。重要なのは、各AAが独立したプロセスとして、それぞれメモリ空間を分けて動くこと。一つが落ちても全体に波及しにくい。そしてCPのSW-Cはそのままは使えません。ARAはRTEとは別物だからです。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ARAの中身をもう一段掘ります。ARAは Functional Cluster、機能のまとまりが16個集まってできています。これが大きく二つのグループに分かれます。左が AP Foundation、基盤グループです。APの基本機能を提供するライブラリ群で、手続き呼び出しか、プロセス間通信IPC経由でAAから使います。右が AP Services、サービスグループ。APの基本サービス群で、Communication Management、CM経由でやりとりします。ポイントは、CPのように内部の階層構造を細かく定めるのではなく、『AAから使える機能やサービス』として規定する形をとっていることです。実装の中身よりインタフェースを重視する、という設計思想の違いがここに表れて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前のスライドで出てきた Communication Management、CMを中心に、APの通信はサービス指向アーキテクチャ、SOAで作られています。図のように、サービスの提供者と利用者がいて、その間をCMが仲介します。固定配線ではなく、実行時にサービスを発見して、動的に結びつくのが特徴です。これにより、ECU間からクラウドまで、車内・車外をまたいで柔軟に連携できます。プロトコルとしてはSOME/IPなどが使われます。そして機能をサービス単位で後から追加したり差し替えたりしやすい。CPの静的な信号ベースの通信とは、考え方がかなり違います。ITの世界のマイクロサービスを思い浮かべると理解しやすい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ここで一度、二つを表で並べて整理します。OSはCPがOSEK/VDX系の静的OS、APがPOSIXベースの動的OS。リアルタイム性はCPがハードリアルタイム、APは柔軟で大規模処理向き。言語はCPがC、APがC++。構成はCPが起動時に固定の静的、APはプロセス分離で後から更新できる動的。通信はCPが固定的な信号ベース、APがサービス指向。用途はCPが制御系ECU、APが自動運転やHPC、ゲートウェイといった高機能系。同じAUTOSARという名前でも、土台も世界観もかなり違う、という点が一目で分かると思い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最近の動向です。いま自動車業界では SDV、ソフトウェア定義車両がキーワードになっています。車の価値や機能を、ハードではなくソフトで定義し、後から更新していくという考え方です。連載の近年の回でも、このSDVとAUTOSARの関係が繰り返し論じられています。ポイントは四つ。SDVを支える基盤としてAUTOSARの共通化・再利用の価値が再評価されていること。多数のソフトをどう統合するかが中心テーマになっていること。従来の仕様駆動に加えて、まずコードを動かすCode First的な流れやオープンソースの波が議論されていること。そして高機能・つながる・更新できる領域で、APの役割が拡大していること。APはSDV時代の主役の一つだと言えます。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後にまとめます。分野外の方に持ち帰っていただきたい要点は四つです。一つ、AUTOSARは車載ソフトの標準で、団体と仕様の両方を指し、すでに事実上の標準になっていること。二つ、CPとAPの2本立てで、CPが静的・制御系、APが動的・高機能系。置き換えではなく適材適所で共存すること。三つ、APはPOSIX、C++、プロセス分離、サービス指向という、皆さんがよく知る汎用組み込みやITの世界観に近いこと。四つ、だからこそLinuxやPOSIX、C++、サービス指向の既存スキルが、APを学ぶ強力な足がかりになること。車載は特別な世界に見えて、土台の多くは皆さんの知識と地続きです。ぜひ『使いこなす』視点で踏み込んでみてください。以上で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32"/>
        </a:solidFill>
      </p:bgPr>
    </p:bg>
    <p:spTree>
      <p:nvGrpSpPr>
        <p:cNvPr id="1" name=""/>
        <p:cNvGrpSpPr/>
        <p:nvPr/>
      </p:nvGrpSpPr>
      <p:grpSpPr>
        <a:xfrm>
          <a:off x="0" y="0"/>
          <a:ext cx="0" cy="0"/>
          <a:chOff x="0" y="0"/>
          <a:chExt cx="0" cy="0"/>
        </a:xfrm>
      </p:grpSpPr>
      <p:sp>
        <p:nvSpPr>
          <p:cNvPr id="2" name="Shape 0"/>
          <p:cNvSpPr/>
          <p:nvPr/>
        </p:nvSpPr>
        <p:spPr>
          <a:xfrm>
            <a:off x="8686800" y="1417320"/>
            <a:ext cx="2743200" cy="822960"/>
          </a:xfrm>
          <a:prstGeom prst="roundRect">
            <a:avLst>
              <a:gd name="adj" fmla="val 11111"/>
            </a:avLst>
          </a:prstGeom>
          <a:solidFill>
            <a:srgbClr val="20344A"/>
          </a:solidFill>
          <a:ln w="12700">
            <a:solidFill>
              <a:srgbClr val="20344A"/>
            </a:solidFill>
            <a:prstDash val="solid"/>
          </a:ln>
        </p:spPr>
      </p:sp>
      <p:sp>
        <p:nvSpPr>
          <p:cNvPr id="3" name="Shape 1"/>
          <p:cNvSpPr/>
          <p:nvPr/>
        </p:nvSpPr>
        <p:spPr>
          <a:xfrm>
            <a:off x="8851392" y="2468880"/>
            <a:ext cx="2743200" cy="822960"/>
          </a:xfrm>
          <a:prstGeom prst="roundRect">
            <a:avLst>
              <a:gd name="adj" fmla="val 11111"/>
            </a:avLst>
          </a:prstGeom>
          <a:solidFill>
            <a:srgbClr val="0E9AA7"/>
          </a:solidFill>
          <a:ln w="12700">
            <a:solidFill>
              <a:srgbClr val="20344A"/>
            </a:solidFill>
            <a:prstDash val="solid"/>
          </a:ln>
        </p:spPr>
      </p:sp>
      <p:sp>
        <p:nvSpPr>
          <p:cNvPr id="4" name="Shape 2"/>
          <p:cNvSpPr/>
          <p:nvPr/>
        </p:nvSpPr>
        <p:spPr>
          <a:xfrm>
            <a:off x="9015984" y="3520440"/>
            <a:ext cx="2743200" cy="822960"/>
          </a:xfrm>
          <a:prstGeom prst="roundRect">
            <a:avLst>
              <a:gd name="adj" fmla="val 11111"/>
            </a:avLst>
          </a:prstGeom>
          <a:solidFill>
            <a:srgbClr val="20344A"/>
          </a:solidFill>
          <a:ln w="12700">
            <a:solidFill>
              <a:srgbClr val="20344A"/>
            </a:solidFill>
            <a:prstDash val="solid"/>
          </a:ln>
        </p:spPr>
      </p:sp>
      <p:sp>
        <p:nvSpPr>
          <p:cNvPr id="5" name="Text 3"/>
          <p:cNvSpPr/>
          <p:nvPr/>
        </p:nvSpPr>
        <p:spPr>
          <a:xfrm>
            <a:off x="8686800" y="1417320"/>
            <a:ext cx="2743200" cy="822960"/>
          </a:xfrm>
          <a:prstGeom prst="rect">
            <a:avLst/>
          </a:prstGeom>
          <a:noFill/>
          <a:ln/>
        </p:spPr>
        <p:txBody>
          <a:bodyPr wrap="square" rtlCol="0" anchor="ctr"/>
          <a:lstStyle/>
          <a:p>
            <a:pPr algn="ctr" indent="0" marL="0">
              <a:buNone/>
            </a:pPr>
            <a:r>
              <a:rPr lang="en-US" sz="1300" b="1" dirty="0">
                <a:solidFill>
                  <a:srgbClr val="5C6B7A"/>
                </a:solidFill>
                <a:latin typeface="Calibri" pitchFamily="34" charset="0"/>
                <a:ea typeface="Calibri" pitchFamily="34" charset="-122"/>
                <a:cs typeface="Calibri" pitchFamily="34" charset="-120"/>
              </a:rPr>
              <a:t>ECU</a:t>
            </a:r>
            <a:endParaRPr lang="en-US" sz="1300" dirty="0"/>
          </a:p>
        </p:txBody>
      </p:sp>
      <p:sp>
        <p:nvSpPr>
          <p:cNvPr id="6" name="Text 4"/>
          <p:cNvSpPr/>
          <p:nvPr/>
        </p:nvSpPr>
        <p:spPr>
          <a:xfrm>
            <a:off x="8851392" y="2468880"/>
            <a:ext cx="2743200" cy="82296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RUNTIME</a:t>
            </a:r>
            <a:endParaRPr lang="en-US" sz="1300" dirty="0"/>
          </a:p>
        </p:txBody>
      </p:sp>
      <p:sp>
        <p:nvSpPr>
          <p:cNvPr id="7" name="Text 5"/>
          <p:cNvSpPr/>
          <p:nvPr/>
        </p:nvSpPr>
        <p:spPr>
          <a:xfrm>
            <a:off x="9015984" y="3520440"/>
            <a:ext cx="2743200" cy="822960"/>
          </a:xfrm>
          <a:prstGeom prst="rect">
            <a:avLst/>
          </a:prstGeom>
          <a:noFill/>
          <a:ln/>
        </p:spPr>
        <p:txBody>
          <a:bodyPr wrap="square" rtlCol="0" anchor="ctr"/>
          <a:lstStyle/>
          <a:p>
            <a:pPr algn="ctr" indent="0" marL="0">
              <a:buNone/>
            </a:pPr>
            <a:r>
              <a:rPr lang="en-US" sz="1200" b="1" dirty="0">
                <a:solidFill>
                  <a:srgbClr val="5C6B7A"/>
                </a:solidFill>
                <a:latin typeface="Calibri" pitchFamily="34" charset="0"/>
                <a:ea typeface="Calibri" pitchFamily="34" charset="-122"/>
                <a:cs typeface="Calibri" pitchFamily="34" charset="-120"/>
              </a:rPr>
              <a:t>APPLICATION</a:t>
            </a:r>
            <a:endParaRPr lang="en-US" sz="1200" dirty="0"/>
          </a:p>
        </p:txBody>
      </p:sp>
      <p:sp>
        <p:nvSpPr>
          <p:cNvPr id="8" name="Text 6"/>
          <p:cNvSpPr/>
          <p:nvPr/>
        </p:nvSpPr>
        <p:spPr>
          <a:xfrm>
            <a:off x="822960" y="1371600"/>
            <a:ext cx="7315200" cy="365760"/>
          </a:xfrm>
          <a:prstGeom prst="rect">
            <a:avLst/>
          </a:prstGeom>
          <a:noFill/>
          <a:ln/>
        </p:spPr>
        <p:txBody>
          <a:bodyPr wrap="square" rtlCol="0" anchor="ctr"/>
          <a:lstStyle/>
          <a:p>
            <a:pPr indent="0" marL="0">
              <a:buNone/>
            </a:pPr>
            <a:r>
              <a:rPr lang="en-US" sz="1300" b="1" spc="200" kern="0" dirty="0">
                <a:solidFill>
                  <a:srgbClr val="0E9AA7"/>
                </a:solidFill>
                <a:latin typeface="Calibri" pitchFamily="34" charset="0"/>
                <a:ea typeface="Calibri" pitchFamily="34" charset="-122"/>
                <a:cs typeface="Calibri" pitchFamily="34" charset="-120"/>
              </a:rPr>
              <a:t>AUTOMOTIVE SOFTWARE STANDARD</a:t>
            </a:r>
            <a:endParaRPr lang="en-US" sz="1300" dirty="0"/>
          </a:p>
        </p:txBody>
      </p:sp>
      <p:sp>
        <p:nvSpPr>
          <p:cNvPr id="9" name="Text 7"/>
          <p:cNvSpPr/>
          <p:nvPr/>
        </p:nvSpPr>
        <p:spPr>
          <a:xfrm>
            <a:off x="777240" y="1828800"/>
            <a:ext cx="7589520" cy="914400"/>
          </a:xfrm>
          <a:prstGeom prst="rect">
            <a:avLst/>
          </a:prstGeom>
          <a:noFill/>
          <a:ln/>
        </p:spPr>
        <p:txBody>
          <a:bodyPr wrap="square" lIns="0" tIns="0" rIns="0" bIns="0" rtlCol="0" anchor="ctr"/>
          <a:lstStyle/>
          <a:p>
            <a:pPr indent="0" marL="0">
              <a:buNone/>
            </a:pPr>
            <a:r>
              <a:rPr lang="en-US" sz="4600" b="1" dirty="0">
                <a:solidFill>
                  <a:srgbClr val="FFFFFF"/>
                </a:solidFill>
                <a:latin typeface="Century Schoolbook" pitchFamily="34" charset="0"/>
                <a:ea typeface="Century Schoolbook" pitchFamily="34" charset="-122"/>
                <a:cs typeface="Century Schoolbook" pitchFamily="34" charset="-120"/>
              </a:rPr>
              <a:t>AUTOSARとは何か</a:t>
            </a:r>
            <a:endParaRPr lang="en-US" sz="4600" dirty="0"/>
          </a:p>
        </p:txBody>
      </p:sp>
      <p:sp>
        <p:nvSpPr>
          <p:cNvPr id="10" name="Text 8"/>
          <p:cNvSpPr/>
          <p:nvPr/>
        </p:nvSpPr>
        <p:spPr>
          <a:xfrm>
            <a:off x="822960" y="2788920"/>
            <a:ext cx="7498080" cy="548640"/>
          </a:xfrm>
          <a:prstGeom prst="rect">
            <a:avLst/>
          </a:prstGeom>
          <a:noFill/>
          <a:ln/>
        </p:spPr>
        <p:txBody>
          <a:bodyPr wrap="square" lIns="0" tIns="0" rIns="0" bIns="0" rtlCol="0" anchor="ctr"/>
          <a:lstStyle/>
          <a:p>
            <a:pPr indent="0" marL="0">
              <a:buNone/>
            </a:pPr>
            <a:r>
              <a:rPr lang="en-US" sz="2400" dirty="0">
                <a:solidFill>
                  <a:srgbClr val="D7EEF0"/>
                </a:solidFill>
                <a:latin typeface="Century Schoolbook" pitchFamily="34" charset="0"/>
                <a:ea typeface="Century Schoolbook" pitchFamily="34" charset="-122"/>
                <a:cs typeface="Century Schoolbook" pitchFamily="34" charset="-120"/>
              </a:rPr>
              <a:t>— 特に Adaptive Platform を中心に —</a:t>
            </a:r>
            <a:endParaRPr lang="en-US" sz="2400" dirty="0"/>
          </a:p>
        </p:txBody>
      </p:sp>
      <p:sp>
        <p:nvSpPr>
          <p:cNvPr id="11" name="Text 9"/>
          <p:cNvSpPr/>
          <p:nvPr/>
        </p:nvSpPr>
        <p:spPr>
          <a:xfrm>
            <a:off x="822960" y="3611880"/>
            <a:ext cx="7498080" cy="457200"/>
          </a:xfrm>
          <a:prstGeom prst="rect">
            <a:avLst/>
          </a:prstGeom>
          <a:noFill/>
          <a:ln/>
        </p:spPr>
        <p:txBody>
          <a:bodyPr wrap="square" rtlCol="0" anchor="ctr"/>
          <a:lstStyle/>
          <a:p>
            <a:pPr indent="0" marL="0">
              <a:buNone/>
            </a:pPr>
            <a:r>
              <a:rPr lang="en-US" sz="1500" dirty="0">
                <a:solidFill>
                  <a:srgbClr val="AEBECD"/>
                </a:solidFill>
                <a:latin typeface="Calibri" pitchFamily="34" charset="0"/>
                <a:ea typeface="Calibri" pitchFamily="34" charset="-122"/>
                <a:cs typeface="Calibri" pitchFamily="34" charset="-120"/>
              </a:rPr>
              <a:t>車載以外の分野の技術者／新人エンジニア向け 入門解説（約15分）</a:t>
            </a:r>
            <a:endParaRPr lang="en-US" sz="1500" dirty="0"/>
          </a:p>
        </p:txBody>
      </p:sp>
      <p:sp>
        <p:nvSpPr>
          <p:cNvPr id="12" name="Shape 10"/>
          <p:cNvSpPr/>
          <p:nvPr/>
        </p:nvSpPr>
        <p:spPr>
          <a:xfrm>
            <a:off x="841248" y="4343400"/>
            <a:ext cx="2926080" cy="0"/>
          </a:xfrm>
          <a:prstGeom prst="line">
            <a:avLst/>
          </a:prstGeom>
          <a:noFill/>
          <a:ln w="31750">
            <a:solidFill>
              <a:srgbClr val="E08A2B"/>
            </a:solidFill>
            <a:prstDash val="solid"/>
          </a:ln>
        </p:spPr>
      </p:sp>
      <p:sp>
        <p:nvSpPr>
          <p:cNvPr id="13" name="Text 11"/>
          <p:cNvSpPr/>
          <p:nvPr/>
        </p:nvSpPr>
        <p:spPr>
          <a:xfrm>
            <a:off x="822960" y="5989320"/>
            <a:ext cx="10058400" cy="365760"/>
          </a:xfrm>
          <a:prstGeom prst="rect">
            <a:avLst/>
          </a:prstGeom>
          <a:noFill/>
          <a:ln/>
        </p:spPr>
        <p:txBody>
          <a:bodyPr wrap="square" rtlCol="0" anchor="ctr"/>
          <a:lstStyle/>
          <a:p>
            <a:pPr indent="0" marL="0">
              <a:buNone/>
            </a:pPr>
            <a:r>
              <a:rPr lang="en-US" sz="1100" dirty="0">
                <a:solidFill>
                  <a:srgbClr val="7E8FA0"/>
                </a:solidFill>
                <a:latin typeface="Calibri" pitchFamily="34" charset="0"/>
                <a:ea typeface="Calibri" pitchFamily="34" charset="-122"/>
                <a:cs typeface="Calibri" pitchFamily="34" charset="-120"/>
              </a:rPr>
              <a:t>出典：MONOist 連載「AUTOSARを使いこなす」（鈴村延保, ITmedia）を基に構成</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02</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AGENDA</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本日の流れ</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「全体像 → Classic → Adaptive → 使い分けと今後」の順に積み上げます</a:t>
            </a:r>
            <a:endParaRPr lang="en-US" sz="1400" dirty="0"/>
          </a:p>
        </p:txBody>
      </p:sp>
      <p:sp>
        <p:nvSpPr>
          <p:cNvPr id="7" name="Shape 5"/>
          <p:cNvSpPr/>
          <p:nvPr/>
        </p:nvSpPr>
        <p:spPr>
          <a:xfrm>
            <a:off x="548640" y="2240280"/>
            <a:ext cx="11064240" cy="868680"/>
          </a:xfrm>
          <a:prstGeom prst="roundRect">
            <a:avLst>
              <a:gd name="adj" fmla="val 6316"/>
            </a:avLst>
          </a:prstGeom>
          <a:solidFill>
            <a:srgbClr val="F4F6F8"/>
          </a:solidFill>
          <a:ln/>
          <a:effectLst>
            <a:outerShdw sx="100000" sy="100000" kx="0" ky="0" algn="bl" rotWithShape="0" blurRad="88900" dist="38100" dir="5400000">
              <a:srgbClr val="000000">
                <a:alpha val="13000"/>
              </a:srgbClr>
            </a:outerShdw>
          </a:effectLst>
        </p:spPr>
      </p:sp>
      <p:sp>
        <p:nvSpPr>
          <p:cNvPr id="8" name="Shape 6"/>
          <p:cNvSpPr/>
          <p:nvPr/>
        </p:nvSpPr>
        <p:spPr>
          <a:xfrm>
            <a:off x="749808" y="2404872"/>
            <a:ext cx="548640" cy="548640"/>
          </a:xfrm>
          <a:prstGeom prst="roundRect">
            <a:avLst>
              <a:gd name="adj" fmla="val 16667"/>
            </a:avLst>
          </a:prstGeom>
          <a:solidFill>
            <a:srgbClr val="0E9AA7"/>
          </a:solidFill>
          <a:ln/>
        </p:spPr>
      </p:sp>
      <p:pic>
        <p:nvPicPr>
          <p:cNvPr id="9" name="Image 0" descr="preencoded.png">    </p:cNvPr>
          <p:cNvPicPr>
            <a:picLocks noChangeAspect="1"/>
          </p:cNvPicPr>
          <p:nvPr/>
        </p:nvPicPr>
        <p:blipFill>
          <a:blip r:embed="rId1"/>
          <a:stretch>
            <a:fillRect/>
          </a:stretch>
        </p:blipFill>
        <p:spPr>
          <a:xfrm>
            <a:off x="859536" y="2514600"/>
            <a:ext cx="329184" cy="329184"/>
          </a:xfrm>
          <a:prstGeom prst="rect">
            <a:avLst/>
          </a:prstGeom>
        </p:spPr>
      </p:pic>
      <p:sp>
        <p:nvSpPr>
          <p:cNvPr id="10" name="Text 7"/>
          <p:cNvSpPr/>
          <p:nvPr/>
        </p:nvSpPr>
        <p:spPr>
          <a:xfrm>
            <a:off x="1508760" y="2359152"/>
            <a:ext cx="4114800" cy="36576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AUTOSARの全体像</a:t>
            </a:r>
            <a:endParaRPr lang="en-US" sz="1600" dirty="0"/>
          </a:p>
        </p:txBody>
      </p:sp>
      <p:sp>
        <p:nvSpPr>
          <p:cNvPr id="11" name="Text 8"/>
          <p:cNvSpPr/>
          <p:nvPr/>
        </p:nvSpPr>
        <p:spPr>
          <a:xfrm>
            <a:off x="1508760" y="2697480"/>
            <a:ext cx="9784080" cy="329184"/>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そもそも何か／なぜ標準化が必要だったか／基本思想</a:t>
            </a:r>
            <a:endParaRPr lang="en-US" sz="1250" dirty="0"/>
          </a:p>
        </p:txBody>
      </p:sp>
      <p:sp>
        <p:nvSpPr>
          <p:cNvPr id="12" name="Shape 9"/>
          <p:cNvSpPr/>
          <p:nvPr/>
        </p:nvSpPr>
        <p:spPr>
          <a:xfrm>
            <a:off x="548640" y="3273552"/>
            <a:ext cx="11064240" cy="868680"/>
          </a:xfrm>
          <a:prstGeom prst="roundRect">
            <a:avLst>
              <a:gd name="adj" fmla="val 6316"/>
            </a:avLst>
          </a:prstGeom>
          <a:solidFill>
            <a:srgbClr val="F4F6F8"/>
          </a:solidFill>
          <a:ln/>
          <a:effectLst>
            <a:outerShdw sx="100000" sy="100000" kx="0" ky="0" algn="bl" rotWithShape="0" blurRad="88900" dist="38100" dir="5400000">
              <a:srgbClr val="000000">
                <a:alpha val="13000"/>
              </a:srgbClr>
            </a:outerShdw>
          </a:effectLst>
        </p:spPr>
      </p:sp>
      <p:sp>
        <p:nvSpPr>
          <p:cNvPr id="13" name="Shape 10"/>
          <p:cNvSpPr/>
          <p:nvPr/>
        </p:nvSpPr>
        <p:spPr>
          <a:xfrm>
            <a:off x="749808" y="3438144"/>
            <a:ext cx="548640" cy="548640"/>
          </a:xfrm>
          <a:prstGeom prst="roundRect">
            <a:avLst>
              <a:gd name="adj" fmla="val 16667"/>
            </a:avLst>
          </a:prstGeom>
          <a:solidFill>
            <a:srgbClr val="0E9AA7"/>
          </a:solidFill>
          <a:ln/>
        </p:spPr>
      </p:sp>
      <p:pic>
        <p:nvPicPr>
          <p:cNvPr id="14" name="Image 1" descr="preencoded.png">    </p:cNvPr>
          <p:cNvPicPr>
            <a:picLocks noChangeAspect="1"/>
          </p:cNvPicPr>
          <p:nvPr/>
        </p:nvPicPr>
        <p:blipFill>
          <a:blip r:embed="rId2"/>
          <a:stretch>
            <a:fillRect/>
          </a:stretch>
        </p:blipFill>
        <p:spPr>
          <a:xfrm>
            <a:off x="859536" y="3547872"/>
            <a:ext cx="329184" cy="329184"/>
          </a:xfrm>
          <a:prstGeom prst="rect">
            <a:avLst/>
          </a:prstGeom>
        </p:spPr>
      </p:pic>
      <p:sp>
        <p:nvSpPr>
          <p:cNvPr id="15" name="Text 11"/>
          <p:cNvSpPr/>
          <p:nvPr/>
        </p:nvSpPr>
        <p:spPr>
          <a:xfrm>
            <a:off x="1508760" y="3392424"/>
            <a:ext cx="4114800" cy="36576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Classic Platform (CP)</a:t>
            </a:r>
            <a:endParaRPr lang="en-US" sz="1600" dirty="0"/>
          </a:p>
        </p:txBody>
      </p:sp>
      <p:sp>
        <p:nvSpPr>
          <p:cNvPr id="16" name="Text 12"/>
          <p:cNvSpPr/>
          <p:nvPr/>
        </p:nvSpPr>
        <p:spPr>
          <a:xfrm>
            <a:off x="1508760" y="3730752"/>
            <a:ext cx="9784080" cy="329184"/>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従来からの基盤。3階層構造と、得意・不得意</a:t>
            </a:r>
            <a:endParaRPr lang="en-US" sz="1250" dirty="0"/>
          </a:p>
        </p:txBody>
      </p:sp>
      <p:sp>
        <p:nvSpPr>
          <p:cNvPr id="17" name="Shape 13"/>
          <p:cNvSpPr/>
          <p:nvPr/>
        </p:nvSpPr>
        <p:spPr>
          <a:xfrm>
            <a:off x="548640" y="4306824"/>
            <a:ext cx="11064240" cy="868680"/>
          </a:xfrm>
          <a:prstGeom prst="roundRect">
            <a:avLst>
              <a:gd name="adj" fmla="val 6316"/>
            </a:avLst>
          </a:prstGeom>
          <a:solidFill>
            <a:srgbClr val="F4F6F8"/>
          </a:solidFill>
          <a:ln/>
          <a:effectLst>
            <a:outerShdw sx="100000" sy="100000" kx="0" ky="0" algn="bl" rotWithShape="0" blurRad="88900" dist="38100" dir="5400000">
              <a:srgbClr val="000000">
                <a:alpha val="13000"/>
              </a:srgbClr>
            </a:outerShdw>
          </a:effectLst>
        </p:spPr>
      </p:sp>
      <p:sp>
        <p:nvSpPr>
          <p:cNvPr id="18" name="Shape 14"/>
          <p:cNvSpPr/>
          <p:nvPr/>
        </p:nvSpPr>
        <p:spPr>
          <a:xfrm>
            <a:off x="749808" y="4471416"/>
            <a:ext cx="548640" cy="548640"/>
          </a:xfrm>
          <a:prstGeom prst="roundRect">
            <a:avLst>
              <a:gd name="adj" fmla="val 16667"/>
            </a:avLst>
          </a:prstGeom>
          <a:solidFill>
            <a:srgbClr val="0E9AA7"/>
          </a:solidFill>
          <a:ln/>
        </p:spPr>
      </p:sp>
      <p:pic>
        <p:nvPicPr>
          <p:cNvPr id="19" name="Image 2" descr="preencoded.png">    </p:cNvPr>
          <p:cNvPicPr>
            <a:picLocks noChangeAspect="1"/>
          </p:cNvPicPr>
          <p:nvPr/>
        </p:nvPicPr>
        <p:blipFill>
          <a:blip r:embed="rId3"/>
          <a:stretch>
            <a:fillRect/>
          </a:stretch>
        </p:blipFill>
        <p:spPr>
          <a:xfrm>
            <a:off x="859536" y="4581144"/>
            <a:ext cx="329184" cy="329184"/>
          </a:xfrm>
          <a:prstGeom prst="rect">
            <a:avLst/>
          </a:prstGeom>
        </p:spPr>
      </p:pic>
      <p:sp>
        <p:nvSpPr>
          <p:cNvPr id="20" name="Text 15"/>
          <p:cNvSpPr/>
          <p:nvPr/>
        </p:nvSpPr>
        <p:spPr>
          <a:xfrm>
            <a:off x="1508760" y="4425696"/>
            <a:ext cx="4114800" cy="36576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Adaptive Platform (AP)</a:t>
            </a:r>
            <a:endParaRPr lang="en-US" sz="1600" dirty="0"/>
          </a:p>
        </p:txBody>
      </p:sp>
      <p:sp>
        <p:nvSpPr>
          <p:cNvPr id="21" name="Text 16"/>
          <p:cNvSpPr/>
          <p:nvPr/>
        </p:nvSpPr>
        <p:spPr>
          <a:xfrm>
            <a:off x="1508760" y="4764024"/>
            <a:ext cx="9784080" cy="329184"/>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登場の背景／アーキテクチャ／CPとの関係（本日の主題）</a:t>
            </a:r>
            <a:endParaRPr lang="en-US" sz="1250" dirty="0"/>
          </a:p>
        </p:txBody>
      </p:sp>
      <p:sp>
        <p:nvSpPr>
          <p:cNvPr id="22" name="Shape 17"/>
          <p:cNvSpPr/>
          <p:nvPr/>
        </p:nvSpPr>
        <p:spPr>
          <a:xfrm>
            <a:off x="548640" y="5340096"/>
            <a:ext cx="11064240" cy="868680"/>
          </a:xfrm>
          <a:prstGeom prst="roundRect">
            <a:avLst>
              <a:gd name="adj" fmla="val 6316"/>
            </a:avLst>
          </a:prstGeom>
          <a:solidFill>
            <a:srgbClr val="F4F6F8"/>
          </a:solidFill>
          <a:ln/>
          <a:effectLst>
            <a:outerShdw sx="100000" sy="100000" kx="0" ky="0" algn="bl" rotWithShape="0" blurRad="88900" dist="38100" dir="5400000">
              <a:srgbClr val="000000">
                <a:alpha val="13000"/>
              </a:srgbClr>
            </a:outerShdw>
          </a:effectLst>
        </p:spPr>
      </p:sp>
      <p:sp>
        <p:nvSpPr>
          <p:cNvPr id="23" name="Shape 18"/>
          <p:cNvSpPr/>
          <p:nvPr/>
        </p:nvSpPr>
        <p:spPr>
          <a:xfrm>
            <a:off x="749808" y="5504688"/>
            <a:ext cx="548640" cy="548640"/>
          </a:xfrm>
          <a:prstGeom prst="roundRect">
            <a:avLst>
              <a:gd name="adj" fmla="val 16667"/>
            </a:avLst>
          </a:prstGeom>
          <a:solidFill>
            <a:srgbClr val="0E9AA7"/>
          </a:solidFill>
          <a:ln/>
        </p:spPr>
      </p:sp>
      <p:pic>
        <p:nvPicPr>
          <p:cNvPr id="24" name="Image 3" descr="preencoded.png">    </p:cNvPr>
          <p:cNvPicPr>
            <a:picLocks noChangeAspect="1"/>
          </p:cNvPicPr>
          <p:nvPr/>
        </p:nvPicPr>
        <p:blipFill>
          <a:blip r:embed="rId4"/>
          <a:stretch>
            <a:fillRect/>
          </a:stretch>
        </p:blipFill>
        <p:spPr>
          <a:xfrm>
            <a:off x="859536" y="5614416"/>
            <a:ext cx="329184" cy="329184"/>
          </a:xfrm>
          <a:prstGeom prst="rect">
            <a:avLst/>
          </a:prstGeom>
        </p:spPr>
      </p:pic>
      <p:sp>
        <p:nvSpPr>
          <p:cNvPr id="25" name="Text 19"/>
          <p:cNvSpPr/>
          <p:nvPr/>
        </p:nvSpPr>
        <p:spPr>
          <a:xfrm>
            <a:off x="1508760" y="5458968"/>
            <a:ext cx="4114800" cy="365760"/>
          </a:xfrm>
          <a:prstGeom prst="rect">
            <a:avLst/>
          </a:prstGeom>
          <a:noFill/>
          <a:ln/>
        </p:spPr>
        <p:txBody>
          <a:bodyPr wrap="square" lIns="0" tIns="0" rIns="0" bIns="0" rtlCol="0" anchor="ctr"/>
          <a:lstStyle/>
          <a:p>
            <a:pPr indent="0" marL="0">
              <a:buNone/>
            </a:pPr>
            <a:r>
              <a:rPr lang="en-US" sz="1600" b="1" dirty="0">
                <a:solidFill>
                  <a:srgbClr val="1B2A3A"/>
                </a:solidFill>
                <a:latin typeface="Calibri" pitchFamily="34" charset="0"/>
                <a:ea typeface="Calibri" pitchFamily="34" charset="-122"/>
                <a:cs typeface="Calibri" pitchFamily="34" charset="-120"/>
              </a:rPr>
              <a:t>使い分けと最近の動向</a:t>
            </a:r>
            <a:endParaRPr lang="en-US" sz="1600" dirty="0"/>
          </a:p>
        </p:txBody>
      </p:sp>
      <p:sp>
        <p:nvSpPr>
          <p:cNvPr id="26" name="Text 20"/>
          <p:cNvSpPr/>
          <p:nvPr/>
        </p:nvSpPr>
        <p:spPr>
          <a:xfrm>
            <a:off x="1508760" y="5797296"/>
            <a:ext cx="9784080" cy="329184"/>
          </a:xfrm>
          <a:prstGeom prst="rect">
            <a:avLst/>
          </a:prstGeom>
          <a:noFill/>
          <a:ln/>
        </p:spPr>
        <p:txBody>
          <a:bodyPr wrap="square" lIns="0" tIns="0" rIns="0" bIns="0" rtlCol="0" anchor="ctr"/>
          <a:lstStyle/>
          <a:p>
            <a:pPr indent="0" marL="0">
              <a:buNone/>
            </a:pPr>
            <a:r>
              <a:rPr lang="en-US" sz="1250" dirty="0">
                <a:solidFill>
                  <a:srgbClr val="5C6B7A"/>
                </a:solidFill>
                <a:latin typeface="Calibri" pitchFamily="34" charset="0"/>
                <a:ea typeface="Calibri" pitchFamily="34" charset="-122"/>
                <a:cs typeface="Calibri" pitchFamily="34" charset="-120"/>
              </a:rPr>
              <a:t>CP/APの比較、SDV（ソフトウェア定義車両）との関係</a:t>
            </a:r>
            <a:endParaRPr lang="en-US" sz="1250" dirty="0"/>
          </a:p>
        </p:txBody>
      </p:sp>
      <p:sp>
        <p:nvSpPr>
          <p:cNvPr id="27" name="Text 21"/>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02</a:t>
            </a:r>
            <a:endParaRPr lang="en-US" sz="1100" dirty="0"/>
          </a:p>
        </p:txBody>
      </p:sp>
      <p:sp>
        <p:nvSpPr>
          <p:cNvPr id="28" name="Text 22"/>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03</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DEFINITION</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そもそも AUTOSAR とは</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「標準化団体」と「標準仕様」の両方を指す言葉です</a:t>
            </a:r>
            <a:endParaRPr lang="en-US" sz="1400" dirty="0"/>
          </a:p>
        </p:txBody>
      </p:sp>
      <p:sp>
        <p:nvSpPr>
          <p:cNvPr id="7" name="Shape 5"/>
          <p:cNvSpPr/>
          <p:nvPr/>
        </p:nvSpPr>
        <p:spPr>
          <a:xfrm>
            <a:off x="548640" y="2286000"/>
            <a:ext cx="5212080" cy="3108960"/>
          </a:xfrm>
          <a:prstGeom prst="roundRect">
            <a:avLst>
              <a:gd name="adj" fmla="val 2353"/>
            </a:avLst>
          </a:prstGeom>
          <a:solidFill>
            <a:srgbClr val="162232"/>
          </a:solidFill>
          <a:ln/>
          <a:effectLst>
            <a:outerShdw sx="100000" sy="100000" kx="0" ky="0" algn="bl" rotWithShape="0" blurRad="88900" dist="38100" dir="5400000">
              <a:srgbClr val="000000">
                <a:alpha val="13000"/>
              </a:srgbClr>
            </a:outerShdw>
          </a:effectLst>
        </p:spPr>
      </p:sp>
      <p:sp>
        <p:nvSpPr>
          <p:cNvPr id="8" name="Text 6"/>
          <p:cNvSpPr/>
          <p:nvPr/>
        </p:nvSpPr>
        <p:spPr>
          <a:xfrm>
            <a:off x="868680" y="2514600"/>
            <a:ext cx="4572000" cy="365760"/>
          </a:xfrm>
          <a:prstGeom prst="rect">
            <a:avLst/>
          </a:prstGeom>
          <a:noFill/>
          <a:ln/>
        </p:spPr>
        <p:txBody>
          <a:bodyPr wrap="square" rtlCol="0" anchor="ctr"/>
          <a:lstStyle/>
          <a:p>
            <a:pPr indent="0" marL="0">
              <a:buNone/>
            </a:pPr>
            <a:r>
              <a:rPr lang="en-US" sz="1300" b="1" spc="100" kern="0" dirty="0">
                <a:solidFill>
                  <a:srgbClr val="0E9AA7"/>
                </a:solidFill>
                <a:latin typeface="Calibri" pitchFamily="34" charset="0"/>
                <a:ea typeface="Calibri" pitchFamily="34" charset="-122"/>
                <a:cs typeface="Calibri" pitchFamily="34" charset="-120"/>
              </a:rPr>
              <a:t>名前の由来</a:t>
            </a:r>
            <a:endParaRPr lang="en-US" sz="1300" dirty="0"/>
          </a:p>
        </p:txBody>
      </p:sp>
      <p:sp>
        <p:nvSpPr>
          <p:cNvPr id="9" name="Text 7"/>
          <p:cNvSpPr/>
          <p:nvPr/>
        </p:nvSpPr>
        <p:spPr>
          <a:xfrm>
            <a:off x="868680" y="2907792"/>
            <a:ext cx="4572000" cy="457200"/>
          </a:xfrm>
          <a:prstGeom prst="rect">
            <a:avLst/>
          </a:prstGeom>
          <a:noFill/>
          <a:ln/>
        </p:spPr>
        <p:txBody>
          <a:bodyPr wrap="square" lIns="0" tIns="0" rIns="0" bIns="0" rtlCol="0" anchor="ctr"/>
          <a:lstStyle/>
          <a:p>
            <a:pPr indent="0" marL="0">
              <a:buNone/>
            </a:pPr>
            <a:r>
              <a:rPr lang="en-US" sz="2000" b="1" dirty="0">
                <a:solidFill>
                  <a:srgbClr val="E08A2B"/>
                </a:solidFill>
                <a:latin typeface="Calibri" pitchFamily="34" charset="0"/>
                <a:ea typeface="Calibri" pitchFamily="34" charset="-122"/>
                <a:cs typeface="Calibri" pitchFamily="34" charset="-120"/>
              </a:rPr>
              <a:t>AUT</a:t>
            </a:r>
            <a:pPr indent="0" marL="0">
              <a:buNone/>
            </a:pPr>
            <a:r>
              <a:rPr lang="en-US" sz="2000" dirty="0">
                <a:solidFill>
                  <a:srgbClr val="CBD6E0"/>
                </a:solidFill>
                <a:latin typeface="Calibri" pitchFamily="34" charset="0"/>
                <a:ea typeface="Calibri" pitchFamily="34" charset="-122"/>
                <a:cs typeface="Calibri" pitchFamily="34" charset="-120"/>
              </a:rPr>
              <a:t>omotive</a:t>
            </a:r>
            <a:endParaRPr lang="en-US" sz="2000" dirty="0"/>
          </a:p>
        </p:txBody>
      </p:sp>
      <p:sp>
        <p:nvSpPr>
          <p:cNvPr id="10" name="Text 8"/>
          <p:cNvSpPr/>
          <p:nvPr/>
        </p:nvSpPr>
        <p:spPr>
          <a:xfrm>
            <a:off x="868680" y="3410712"/>
            <a:ext cx="4572000" cy="457200"/>
          </a:xfrm>
          <a:prstGeom prst="rect">
            <a:avLst/>
          </a:prstGeom>
          <a:noFill/>
          <a:ln/>
        </p:spPr>
        <p:txBody>
          <a:bodyPr wrap="square" lIns="0" tIns="0" rIns="0" bIns="0" rtlCol="0" anchor="ctr"/>
          <a:lstStyle/>
          <a:p>
            <a:pPr indent="0" marL="0">
              <a:buNone/>
            </a:pPr>
            <a:r>
              <a:rPr lang="en-US" sz="2000" b="1" dirty="0">
                <a:solidFill>
                  <a:srgbClr val="E08A2B"/>
                </a:solidFill>
                <a:latin typeface="Calibri" pitchFamily="34" charset="0"/>
                <a:ea typeface="Calibri" pitchFamily="34" charset="-122"/>
                <a:cs typeface="Calibri" pitchFamily="34" charset="-120"/>
              </a:rPr>
              <a:t>O</a:t>
            </a:r>
            <a:pPr indent="0" marL="0">
              <a:buNone/>
            </a:pPr>
            <a:r>
              <a:rPr lang="en-US" sz="2000" dirty="0">
                <a:solidFill>
                  <a:srgbClr val="CBD6E0"/>
                </a:solidFill>
                <a:latin typeface="Calibri" pitchFamily="34" charset="0"/>
                <a:ea typeface="Calibri" pitchFamily="34" charset="-122"/>
                <a:cs typeface="Calibri" pitchFamily="34" charset="-120"/>
              </a:rPr>
              <a:t>pen</a:t>
            </a:r>
            <a:endParaRPr lang="en-US" sz="2000" dirty="0"/>
          </a:p>
        </p:txBody>
      </p:sp>
      <p:sp>
        <p:nvSpPr>
          <p:cNvPr id="11" name="Text 9"/>
          <p:cNvSpPr/>
          <p:nvPr/>
        </p:nvSpPr>
        <p:spPr>
          <a:xfrm>
            <a:off x="868680" y="3913632"/>
            <a:ext cx="4572000" cy="457200"/>
          </a:xfrm>
          <a:prstGeom prst="rect">
            <a:avLst/>
          </a:prstGeom>
          <a:noFill/>
          <a:ln/>
        </p:spPr>
        <p:txBody>
          <a:bodyPr wrap="square" lIns="0" tIns="0" rIns="0" bIns="0" rtlCol="0" anchor="ctr"/>
          <a:lstStyle/>
          <a:p>
            <a:pPr indent="0" marL="0">
              <a:buNone/>
            </a:pPr>
            <a:r>
              <a:rPr lang="en-US" sz="2000" b="1" dirty="0">
                <a:solidFill>
                  <a:srgbClr val="E08A2B"/>
                </a:solidFill>
                <a:latin typeface="Calibri" pitchFamily="34" charset="0"/>
                <a:ea typeface="Calibri" pitchFamily="34" charset="-122"/>
                <a:cs typeface="Calibri" pitchFamily="34" charset="-120"/>
              </a:rPr>
              <a:t>S</a:t>
            </a:r>
            <a:pPr indent="0" marL="0">
              <a:buNone/>
            </a:pPr>
            <a:r>
              <a:rPr lang="en-US" sz="2000" dirty="0">
                <a:solidFill>
                  <a:srgbClr val="CBD6E0"/>
                </a:solidFill>
                <a:latin typeface="Calibri" pitchFamily="34" charset="0"/>
                <a:ea typeface="Calibri" pitchFamily="34" charset="-122"/>
                <a:cs typeface="Calibri" pitchFamily="34" charset="-120"/>
              </a:rPr>
              <a:t>ystem</a:t>
            </a:r>
            <a:endParaRPr lang="en-US" sz="2000" dirty="0"/>
          </a:p>
        </p:txBody>
      </p:sp>
      <p:sp>
        <p:nvSpPr>
          <p:cNvPr id="12" name="Text 10"/>
          <p:cNvSpPr/>
          <p:nvPr/>
        </p:nvSpPr>
        <p:spPr>
          <a:xfrm>
            <a:off x="868680" y="4416552"/>
            <a:ext cx="4572000" cy="457200"/>
          </a:xfrm>
          <a:prstGeom prst="rect">
            <a:avLst/>
          </a:prstGeom>
          <a:noFill/>
          <a:ln/>
        </p:spPr>
        <p:txBody>
          <a:bodyPr wrap="square" lIns="0" tIns="0" rIns="0" bIns="0" rtlCol="0" anchor="ctr"/>
          <a:lstStyle/>
          <a:p>
            <a:pPr indent="0" marL="0">
              <a:buNone/>
            </a:pPr>
            <a:r>
              <a:rPr lang="en-US" sz="2000" b="1" dirty="0">
                <a:solidFill>
                  <a:srgbClr val="E08A2B"/>
                </a:solidFill>
                <a:latin typeface="Calibri" pitchFamily="34" charset="0"/>
                <a:ea typeface="Calibri" pitchFamily="34" charset="-122"/>
                <a:cs typeface="Calibri" pitchFamily="34" charset="-120"/>
              </a:rPr>
              <a:t>AR</a:t>
            </a:r>
            <a:pPr indent="0" marL="0">
              <a:buNone/>
            </a:pPr>
            <a:r>
              <a:rPr lang="en-US" sz="2000" dirty="0">
                <a:solidFill>
                  <a:srgbClr val="CBD6E0"/>
                </a:solidFill>
                <a:latin typeface="Calibri" pitchFamily="34" charset="0"/>
                <a:ea typeface="Calibri" pitchFamily="34" charset="-122"/>
                <a:cs typeface="Calibri" pitchFamily="34" charset="-120"/>
              </a:rPr>
              <a:t>chitecture</a:t>
            </a:r>
            <a:endParaRPr lang="en-US" sz="2000" dirty="0"/>
          </a:p>
        </p:txBody>
      </p:sp>
      <p:sp>
        <p:nvSpPr>
          <p:cNvPr id="13" name="Text 11"/>
          <p:cNvSpPr/>
          <p:nvPr/>
        </p:nvSpPr>
        <p:spPr>
          <a:xfrm>
            <a:off x="868680" y="4956048"/>
            <a:ext cx="4663440" cy="365760"/>
          </a:xfrm>
          <a:prstGeom prst="rect">
            <a:avLst/>
          </a:prstGeom>
          <a:noFill/>
          <a:ln/>
        </p:spPr>
        <p:txBody>
          <a:bodyPr wrap="square" lIns="0" tIns="0" rIns="0" bIns="0" rtlCol="0" anchor="ctr"/>
          <a:lstStyle/>
          <a:p>
            <a:pPr indent="0" marL="0">
              <a:buNone/>
            </a:pPr>
            <a:r>
              <a:rPr lang="en-US" sz="1300" i="1" dirty="0">
                <a:solidFill>
                  <a:srgbClr val="AEBECD"/>
                </a:solidFill>
                <a:latin typeface="Calibri" pitchFamily="34" charset="0"/>
                <a:ea typeface="Calibri" pitchFamily="34" charset="-122"/>
                <a:cs typeface="Calibri" pitchFamily="34" charset="-120"/>
              </a:rPr>
              <a:t>＝ 車載のための、共通のシステム基盤</a:t>
            </a:r>
            <a:endParaRPr lang="en-US" sz="1300" dirty="0"/>
          </a:p>
        </p:txBody>
      </p:sp>
      <p:sp>
        <p:nvSpPr>
          <p:cNvPr id="14" name="Shape 12"/>
          <p:cNvSpPr/>
          <p:nvPr/>
        </p:nvSpPr>
        <p:spPr>
          <a:xfrm>
            <a:off x="5989320" y="2286000"/>
            <a:ext cx="5623560" cy="950976"/>
          </a:xfrm>
          <a:prstGeom prst="roundRect">
            <a:avLst>
              <a:gd name="adj" fmla="val 5769"/>
            </a:avLst>
          </a:prstGeom>
          <a:solidFill>
            <a:srgbClr val="F4F6F8"/>
          </a:solidFill>
          <a:ln/>
          <a:effectLst>
            <a:outerShdw sx="100000" sy="100000" kx="0" ky="0" algn="bl" rotWithShape="0" blurRad="88900" dist="38100" dir="5400000">
              <a:srgbClr val="000000">
                <a:alpha val="13000"/>
              </a:srgbClr>
            </a:outerShdw>
          </a:effectLst>
        </p:spPr>
      </p:sp>
      <p:sp>
        <p:nvSpPr>
          <p:cNvPr id="15" name="Shape 13"/>
          <p:cNvSpPr/>
          <p:nvPr/>
        </p:nvSpPr>
        <p:spPr>
          <a:xfrm>
            <a:off x="6190488" y="2532888"/>
            <a:ext cx="457200" cy="457200"/>
          </a:xfrm>
          <a:prstGeom prst="ellipse">
            <a:avLst/>
          </a:prstGeom>
          <a:solidFill>
            <a:srgbClr val="D7EEF0"/>
          </a:solidFill>
          <a:ln/>
        </p:spPr>
      </p:sp>
      <p:pic>
        <p:nvPicPr>
          <p:cNvPr id="16" name="Image 0" descr="preencoded.png">    </p:cNvPr>
          <p:cNvPicPr>
            <a:picLocks noChangeAspect="1"/>
          </p:cNvPicPr>
          <p:nvPr/>
        </p:nvPicPr>
        <p:blipFill>
          <a:blip r:embed="rId1"/>
          <a:stretch>
            <a:fillRect/>
          </a:stretch>
        </p:blipFill>
        <p:spPr>
          <a:xfrm>
            <a:off x="6281928" y="2624328"/>
            <a:ext cx="274320" cy="274320"/>
          </a:xfrm>
          <a:prstGeom prst="rect">
            <a:avLst/>
          </a:prstGeom>
        </p:spPr>
      </p:pic>
      <p:sp>
        <p:nvSpPr>
          <p:cNvPr id="17" name="Text 14"/>
          <p:cNvSpPr/>
          <p:nvPr/>
        </p:nvSpPr>
        <p:spPr>
          <a:xfrm>
            <a:off x="6858000" y="2395728"/>
            <a:ext cx="4617720" cy="310896"/>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標準化団体としての顔</a:t>
            </a:r>
            <a:endParaRPr lang="en-US" sz="1450" dirty="0"/>
          </a:p>
        </p:txBody>
      </p:sp>
      <p:sp>
        <p:nvSpPr>
          <p:cNvPr id="18" name="Text 15"/>
          <p:cNvSpPr/>
          <p:nvPr/>
        </p:nvSpPr>
        <p:spPr>
          <a:xfrm>
            <a:off x="6858000" y="2706624"/>
            <a:ext cx="45720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2003年設立。完成車メーカー・サプライヤ・半導体・ツールベンダが参加する国際的な開発パートナーシップ。</a:t>
            </a:r>
            <a:endParaRPr lang="en-US" sz="1150" dirty="0"/>
          </a:p>
        </p:txBody>
      </p:sp>
      <p:sp>
        <p:nvSpPr>
          <p:cNvPr id="19" name="Shape 16"/>
          <p:cNvSpPr/>
          <p:nvPr/>
        </p:nvSpPr>
        <p:spPr>
          <a:xfrm>
            <a:off x="5989320" y="3364992"/>
            <a:ext cx="5623560" cy="950976"/>
          </a:xfrm>
          <a:prstGeom prst="roundRect">
            <a:avLst>
              <a:gd name="adj" fmla="val 5769"/>
            </a:avLst>
          </a:prstGeom>
          <a:solidFill>
            <a:srgbClr val="F4F6F8"/>
          </a:solidFill>
          <a:ln/>
          <a:effectLst>
            <a:outerShdw sx="100000" sy="100000" kx="0" ky="0" algn="bl" rotWithShape="0" blurRad="88900" dist="38100" dir="5400000">
              <a:srgbClr val="000000">
                <a:alpha val="13000"/>
              </a:srgbClr>
            </a:outerShdw>
          </a:effectLst>
        </p:spPr>
      </p:sp>
      <p:sp>
        <p:nvSpPr>
          <p:cNvPr id="20" name="Shape 17"/>
          <p:cNvSpPr/>
          <p:nvPr/>
        </p:nvSpPr>
        <p:spPr>
          <a:xfrm>
            <a:off x="6190488" y="3611880"/>
            <a:ext cx="457200" cy="457200"/>
          </a:xfrm>
          <a:prstGeom prst="ellipse">
            <a:avLst/>
          </a:prstGeom>
          <a:solidFill>
            <a:srgbClr val="D7EEF0"/>
          </a:solidFill>
          <a:ln/>
        </p:spPr>
      </p:sp>
      <p:pic>
        <p:nvPicPr>
          <p:cNvPr id="21" name="Image 1" descr="preencoded.png">    </p:cNvPr>
          <p:cNvPicPr>
            <a:picLocks noChangeAspect="1"/>
          </p:cNvPicPr>
          <p:nvPr/>
        </p:nvPicPr>
        <p:blipFill>
          <a:blip r:embed="rId2"/>
          <a:stretch>
            <a:fillRect/>
          </a:stretch>
        </p:blipFill>
        <p:spPr>
          <a:xfrm>
            <a:off x="6281928" y="3703320"/>
            <a:ext cx="274320" cy="274320"/>
          </a:xfrm>
          <a:prstGeom prst="rect">
            <a:avLst/>
          </a:prstGeom>
        </p:spPr>
      </p:pic>
      <p:sp>
        <p:nvSpPr>
          <p:cNvPr id="22" name="Text 18"/>
          <p:cNvSpPr/>
          <p:nvPr/>
        </p:nvSpPr>
        <p:spPr>
          <a:xfrm>
            <a:off x="6858000" y="3474720"/>
            <a:ext cx="4617720" cy="310896"/>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標準仕様としての顔</a:t>
            </a:r>
            <a:endParaRPr lang="en-US" sz="1450" dirty="0"/>
          </a:p>
        </p:txBody>
      </p:sp>
      <p:sp>
        <p:nvSpPr>
          <p:cNvPr id="23" name="Text 19"/>
          <p:cNvSpPr/>
          <p:nvPr/>
        </p:nvSpPr>
        <p:spPr>
          <a:xfrm>
            <a:off x="6858000" y="3785616"/>
            <a:ext cx="45720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車載ECU向けソフトウェアの共通アーキテクチャと、各種インタフェースの仕様群。</a:t>
            </a:r>
            <a:endParaRPr lang="en-US" sz="1150" dirty="0"/>
          </a:p>
        </p:txBody>
      </p:sp>
      <p:sp>
        <p:nvSpPr>
          <p:cNvPr id="24" name="Shape 20"/>
          <p:cNvSpPr/>
          <p:nvPr/>
        </p:nvSpPr>
        <p:spPr>
          <a:xfrm>
            <a:off x="5989320" y="4443984"/>
            <a:ext cx="5623560" cy="950976"/>
          </a:xfrm>
          <a:prstGeom prst="roundRect">
            <a:avLst>
              <a:gd name="adj" fmla="val 5769"/>
            </a:avLst>
          </a:prstGeom>
          <a:solidFill>
            <a:srgbClr val="F4F6F8"/>
          </a:solidFill>
          <a:ln/>
          <a:effectLst>
            <a:outerShdw sx="100000" sy="100000" kx="0" ky="0" algn="bl" rotWithShape="0" blurRad="88900" dist="38100" dir="5400000">
              <a:srgbClr val="000000">
                <a:alpha val="13000"/>
              </a:srgbClr>
            </a:outerShdw>
          </a:effectLst>
        </p:spPr>
      </p:sp>
      <p:sp>
        <p:nvSpPr>
          <p:cNvPr id="25" name="Shape 21"/>
          <p:cNvSpPr/>
          <p:nvPr/>
        </p:nvSpPr>
        <p:spPr>
          <a:xfrm>
            <a:off x="6190488" y="4690872"/>
            <a:ext cx="457200" cy="457200"/>
          </a:xfrm>
          <a:prstGeom prst="ellipse">
            <a:avLst/>
          </a:prstGeom>
          <a:solidFill>
            <a:srgbClr val="D7EEF0"/>
          </a:solidFill>
          <a:ln/>
        </p:spPr>
      </p:sp>
      <p:pic>
        <p:nvPicPr>
          <p:cNvPr id="26" name="Image 2" descr="preencoded.png">    </p:cNvPr>
          <p:cNvPicPr>
            <a:picLocks noChangeAspect="1"/>
          </p:cNvPicPr>
          <p:nvPr/>
        </p:nvPicPr>
        <p:blipFill>
          <a:blip r:embed="rId3"/>
          <a:stretch>
            <a:fillRect/>
          </a:stretch>
        </p:blipFill>
        <p:spPr>
          <a:xfrm>
            <a:off x="6281928" y="4782312"/>
            <a:ext cx="274320" cy="274320"/>
          </a:xfrm>
          <a:prstGeom prst="rect">
            <a:avLst/>
          </a:prstGeom>
        </p:spPr>
      </p:pic>
      <p:sp>
        <p:nvSpPr>
          <p:cNvPr id="27" name="Text 22"/>
          <p:cNvSpPr/>
          <p:nvPr/>
        </p:nvSpPr>
        <p:spPr>
          <a:xfrm>
            <a:off x="6858000" y="4553712"/>
            <a:ext cx="4617720" cy="310896"/>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実車への適用</a:t>
            </a:r>
            <a:endParaRPr lang="en-US" sz="1450" dirty="0"/>
          </a:p>
        </p:txBody>
      </p:sp>
      <p:sp>
        <p:nvSpPr>
          <p:cNvPr id="28" name="Text 23"/>
          <p:cNvSpPr/>
          <p:nvPr/>
        </p:nvSpPr>
        <p:spPr>
          <a:xfrm>
            <a:off x="6858000" y="4864608"/>
            <a:ext cx="4572000" cy="45720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すでに量産車のECUソフトウェアで広く使われ、事実上の標準になっている。</a:t>
            </a:r>
            <a:endParaRPr lang="en-US" sz="1150" dirty="0"/>
          </a:p>
        </p:txBody>
      </p:sp>
      <p:sp>
        <p:nvSpPr>
          <p:cNvPr id="29" name="Text 24"/>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03</a:t>
            </a:r>
            <a:endParaRPr lang="en-US" sz="1100" dirty="0"/>
          </a:p>
        </p:txBody>
      </p:sp>
      <p:sp>
        <p:nvSpPr>
          <p:cNvPr id="30" name="Text 25"/>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04</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BACKGROUND</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なぜ標準化が必要だったのか</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車載ソフトの「規模の爆発」と「再利用の困難さ」が出発点</a:t>
            </a:r>
            <a:endParaRPr lang="en-US" sz="1400" dirty="0"/>
          </a:p>
        </p:txBody>
      </p:sp>
      <p:sp>
        <p:nvSpPr>
          <p:cNvPr id="7" name="Shape 5"/>
          <p:cNvSpPr/>
          <p:nvPr/>
        </p:nvSpPr>
        <p:spPr>
          <a:xfrm>
            <a:off x="548640" y="2286000"/>
            <a:ext cx="5440680" cy="1417320"/>
          </a:xfrm>
          <a:prstGeom prst="roundRect">
            <a:avLst>
              <a:gd name="adj" fmla="val 4516"/>
            </a:avLst>
          </a:prstGeom>
          <a:solidFill>
            <a:srgbClr val="F4F6F8"/>
          </a:solidFill>
          <a:ln/>
          <a:effectLst>
            <a:outerShdw sx="100000" sy="100000" kx="0" ky="0" algn="bl" rotWithShape="0" blurRad="88900" dist="38100" dir="5400000">
              <a:srgbClr val="000000">
                <a:alpha val="13000"/>
              </a:srgbClr>
            </a:outerShdw>
          </a:effectLst>
        </p:spPr>
      </p:sp>
      <p:sp>
        <p:nvSpPr>
          <p:cNvPr id="8" name="Shape 6"/>
          <p:cNvSpPr/>
          <p:nvPr/>
        </p:nvSpPr>
        <p:spPr>
          <a:xfrm>
            <a:off x="804672" y="2560320"/>
            <a:ext cx="566928" cy="566928"/>
          </a:xfrm>
          <a:prstGeom prst="ellipse">
            <a:avLst/>
          </a:prstGeom>
          <a:solidFill>
            <a:srgbClr val="FBEBD5"/>
          </a:solidFill>
          <a:ln/>
        </p:spPr>
      </p:sp>
      <p:pic>
        <p:nvPicPr>
          <p:cNvPr id="9" name="Image 0" descr="preencoded.png">    </p:cNvPr>
          <p:cNvPicPr>
            <a:picLocks noChangeAspect="1"/>
          </p:cNvPicPr>
          <p:nvPr/>
        </p:nvPicPr>
        <p:blipFill>
          <a:blip r:embed="rId1"/>
          <a:stretch>
            <a:fillRect/>
          </a:stretch>
        </p:blipFill>
        <p:spPr>
          <a:xfrm>
            <a:off x="923544" y="2679192"/>
            <a:ext cx="329184" cy="329184"/>
          </a:xfrm>
          <a:prstGeom prst="rect">
            <a:avLst/>
          </a:prstGeom>
        </p:spPr>
      </p:pic>
      <p:sp>
        <p:nvSpPr>
          <p:cNvPr id="10" name="Text 7"/>
          <p:cNvSpPr/>
          <p:nvPr/>
        </p:nvSpPr>
        <p:spPr>
          <a:xfrm>
            <a:off x="1554480" y="2542032"/>
            <a:ext cx="4251960" cy="384048"/>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ECU数の増大</a:t>
            </a:r>
            <a:endParaRPr lang="en-US" sz="1700" dirty="0"/>
          </a:p>
        </p:txBody>
      </p:sp>
      <p:sp>
        <p:nvSpPr>
          <p:cNvPr id="11" name="Text 8"/>
          <p:cNvSpPr/>
          <p:nvPr/>
        </p:nvSpPr>
        <p:spPr>
          <a:xfrm>
            <a:off x="1554480" y="2944368"/>
            <a:ext cx="4206240" cy="64008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1台の車に数十〜100個超の電子制御ユニット。機能追加のたびに増え続けた。</a:t>
            </a:r>
            <a:endParaRPr lang="en-US" sz="1250" dirty="0"/>
          </a:p>
        </p:txBody>
      </p:sp>
      <p:sp>
        <p:nvSpPr>
          <p:cNvPr id="12" name="Shape 9"/>
          <p:cNvSpPr/>
          <p:nvPr/>
        </p:nvSpPr>
        <p:spPr>
          <a:xfrm>
            <a:off x="6172200" y="2286000"/>
            <a:ext cx="5440680" cy="1417320"/>
          </a:xfrm>
          <a:prstGeom prst="roundRect">
            <a:avLst>
              <a:gd name="adj" fmla="val 4516"/>
            </a:avLst>
          </a:prstGeom>
          <a:solidFill>
            <a:srgbClr val="F4F6F8"/>
          </a:solidFill>
          <a:ln/>
          <a:effectLst>
            <a:outerShdw sx="100000" sy="100000" kx="0" ky="0" algn="bl" rotWithShape="0" blurRad="88900" dist="38100" dir="5400000">
              <a:srgbClr val="000000">
                <a:alpha val="13000"/>
              </a:srgbClr>
            </a:outerShdw>
          </a:effectLst>
        </p:spPr>
      </p:sp>
      <p:sp>
        <p:nvSpPr>
          <p:cNvPr id="13" name="Shape 10"/>
          <p:cNvSpPr/>
          <p:nvPr/>
        </p:nvSpPr>
        <p:spPr>
          <a:xfrm>
            <a:off x="6428232" y="2560320"/>
            <a:ext cx="566928" cy="566928"/>
          </a:xfrm>
          <a:prstGeom prst="ellipse">
            <a:avLst/>
          </a:prstGeom>
          <a:solidFill>
            <a:srgbClr val="FBEBD5"/>
          </a:solidFill>
          <a:ln/>
        </p:spPr>
      </p:sp>
      <p:pic>
        <p:nvPicPr>
          <p:cNvPr id="14" name="Image 1" descr="preencoded.png">    </p:cNvPr>
          <p:cNvPicPr>
            <a:picLocks noChangeAspect="1"/>
          </p:cNvPicPr>
          <p:nvPr/>
        </p:nvPicPr>
        <p:blipFill>
          <a:blip r:embed="rId2"/>
          <a:stretch>
            <a:fillRect/>
          </a:stretch>
        </p:blipFill>
        <p:spPr>
          <a:xfrm>
            <a:off x="6547104" y="2679192"/>
            <a:ext cx="329184" cy="329184"/>
          </a:xfrm>
          <a:prstGeom prst="rect">
            <a:avLst/>
          </a:prstGeom>
        </p:spPr>
      </p:pic>
      <p:sp>
        <p:nvSpPr>
          <p:cNvPr id="15" name="Text 11"/>
          <p:cNvSpPr/>
          <p:nvPr/>
        </p:nvSpPr>
        <p:spPr>
          <a:xfrm>
            <a:off x="7178040" y="2542032"/>
            <a:ext cx="4251960" cy="384048"/>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ソフト規模の爆発</a:t>
            </a:r>
            <a:endParaRPr lang="en-US" sz="1700" dirty="0"/>
          </a:p>
        </p:txBody>
      </p:sp>
      <p:sp>
        <p:nvSpPr>
          <p:cNvPr id="16" name="Text 12"/>
          <p:cNvSpPr/>
          <p:nvPr/>
        </p:nvSpPr>
        <p:spPr>
          <a:xfrm>
            <a:off x="7178040" y="2944368"/>
            <a:ext cx="4206240" cy="64008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安全・快適・環境性能の要求で、車載ソフトの行数が急増。</a:t>
            </a:r>
            <a:endParaRPr lang="en-US" sz="1250" dirty="0"/>
          </a:p>
        </p:txBody>
      </p:sp>
      <p:sp>
        <p:nvSpPr>
          <p:cNvPr id="17" name="Shape 13"/>
          <p:cNvSpPr/>
          <p:nvPr/>
        </p:nvSpPr>
        <p:spPr>
          <a:xfrm>
            <a:off x="548640" y="3904488"/>
            <a:ext cx="5440680" cy="1417320"/>
          </a:xfrm>
          <a:prstGeom prst="roundRect">
            <a:avLst>
              <a:gd name="adj" fmla="val 4516"/>
            </a:avLst>
          </a:prstGeom>
          <a:solidFill>
            <a:srgbClr val="F4F6F8"/>
          </a:solidFill>
          <a:ln/>
          <a:effectLst>
            <a:outerShdw sx="100000" sy="100000" kx="0" ky="0" algn="bl" rotWithShape="0" blurRad="88900" dist="38100" dir="5400000">
              <a:srgbClr val="000000">
                <a:alpha val="13000"/>
              </a:srgbClr>
            </a:outerShdw>
          </a:effectLst>
        </p:spPr>
      </p:sp>
      <p:sp>
        <p:nvSpPr>
          <p:cNvPr id="18" name="Shape 14"/>
          <p:cNvSpPr/>
          <p:nvPr/>
        </p:nvSpPr>
        <p:spPr>
          <a:xfrm>
            <a:off x="804672" y="4178808"/>
            <a:ext cx="566928" cy="566928"/>
          </a:xfrm>
          <a:prstGeom prst="ellipse">
            <a:avLst/>
          </a:prstGeom>
          <a:solidFill>
            <a:srgbClr val="FBEBD5"/>
          </a:solidFill>
          <a:ln/>
        </p:spPr>
      </p:sp>
      <p:pic>
        <p:nvPicPr>
          <p:cNvPr id="19" name="Image 2" descr="preencoded.png">    </p:cNvPr>
          <p:cNvPicPr>
            <a:picLocks noChangeAspect="1"/>
          </p:cNvPicPr>
          <p:nvPr/>
        </p:nvPicPr>
        <p:blipFill>
          <a:blip r:embed="rId3"/>
          <a:stretch>
            <a:fillRect/>
          </a:stretch>
        </p:blipFill>
        <p:spPr>
          <a:xfrm>
            <a:off x="923544" y="4297680"/>
            <a:ext cx="329184" cy="329184"/>
          </a:xfrm>
          <a:prstGeom prst="rect">
            <a:avLst/>
          </a:prstGeom>
        </p:spPr>
      </p:pic>
      <p:sp>
        <p:nvSpPr>
          <p:cNvPr id="20" name="Text 15"/>
          <p:cNvSpPr/>
          <p:nvPr/>
        </p:nvSpPr>
        <p:spPr>
          <a:xfrm>
            <a:off x="1554480" y="4160520"/>
            <a:ext cx="4251960" cy="384048"/>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再利用の困難さ</a:t>
            </a:r>
            <a:endParaRPr lang="en-US" sz="1700" dirty="0"/>
          </a:p>
        </p:txBody>
      </p:sp>
      <p:sp>
        <p:nvSpPr>
          <p:cNvPr id="21" name="Text 16"/>
          <p:cNvSpPr/>
          <p:nvPr/>
        </p:nvSpPr>
        <p:spPr>
          <a:xfrm>
            <a:off x="1554480" y="4562856"/>
            <a:ext cx="4206240" cy="64008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メーカー・サプライヤごとに個別最適化。同じ機能を毎回作り直していた。</a:t>
            </a:r>
            <a:endParaRPr lang="en-US" sz="1250" dirty="0"/>
          </a:p>
        </p:txBody>
      </p:sp>
      <p:sp>
        <p:nvSpPr>
          <p:cNvPr id="22" name="Shape 17"/>
          <p:cNvSpPr/>
          <p:nvPr/>
        </p:nvSpPr>
        <p:spPr>
          <a:xfrm>
            <a:off x="6172200" y="3904488"/>
            <a:ext cx="5440680" cy="1417320"/>
          </a:xfrm>
          <a:prstGeom prst="roundRect">
            <a:avLst>
              <a:gd name="adj" fmla="val 4516"/>
            </a:avLst>
          </a:prstGeom>
          <a:solidFill>
            <a:srgbClr val="F4F6F8"/>
          </a:solidFill>
          <a:ln/>
          <a:effectLst>
            <a:outerShdw sx="100000" sy="100000" kx="0" ky="0" algn="bl" rotWithShape="0" blurRad="88900" dist="38100" dir="5400000">
              <a:srgbClr val="000000">
                <a:alpha val="13000"/>
              </a:srgbClr>
            </a:outerShdw>
          </a:effectLst>
        </p:spPr>
      </p:sp>
      <p:sp>
        <p:nvSpPr>
          <p:cNvPr id="23" name="Shape 18"/>
          <p:cNvSpPr/>
          <p:nvPr/>
        </p:nvSpPr>
        <p:spPr>
          <a:xfrm>
            <a:off x="6428232" y="4178808"/>
            <a:ext cx="566928" cy="566928"/>
          </a:xfrm>
          <a:prstGeom prst="ellipse">
            <a:avLst/>
          </a:prstGeom>
          <a:solidFill>
            <a:srgbClr val="FBEBD5"/>
          </a:solidFill>
          <a:ln/>
        </p:spPr>
      </p:sp>
      <p:pic>
        <p:nvPicPr>
          <p:cNvPr id="24" name="Image 3" descr="preencoded.png">    </p:cNvPr>
          <p:cNvPicPr>
            <a:picLocks noChangeAspect="1"/>
          </p:cNvPicPr>
          <p:nvPr/>
        </p:nvPicPr>
        <p:blipFill>
          <a:blip r:embed="rId4"/>
          <a:stretch>
            <a:fillRect/>
          </a:stretch>
        </p:blipFill>
        <p:spPr>
          <a:xfrm>
            <a:off x="6547104" y="4297680"/>
            <a:ext cx="329184" cy="329184"/>
          </a:xfrm>
          <a:prstGeom prst="rect">
            <a:avLst/>
          </a:prstGeom>
        </p:spPr>
      </p:pic>
      <p:sp>
        <p:nvSpPr>
          <p:cNvPr id="25" name="Text 19"/>
          <p:cNvSpPr/>
          <p:nvPr/>
        </p:nvSpPr>
        <p:spPr>
          <a:xfrm>
            <a:off x="7178040" y="4160520"/>
            <a:ext cx="4251960" cy="384048"/>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ハードとの密結合</a:t>
            </a:r>
            <a:endParaRPr lang="en-US" sz="1700" dirty="0"/>
          </a:p>
        </p:txBody>
      </p:sp>
      <p:sp>
        <p:nvSpPr>
          <p:cNvPr id="26" name="Text 20"/>
          <p:cNvSpPr/>
          <p:nvPr/>
        </p:nvSpPr>
        <p:spPr>
          <a:xfrm>
            <a:off x="7178040" y="4562856"/>
            <a:ext cx="4206240" cy="640080"/>
          </a:xfrm>
          <a:prstGeom prst="rect">
            <a:avLst/>
          </a:prstGeom>
          <a:noFill/>
          <a:ln/>
        </p:spPr>
        <p:txBody>
          <a:bodyPr wrap="square" lIns="0" tIns="0" rIns="0" bIns="0" rtlCol="0" anchor="t"/>
          <a:lstStyle/>
          <a:p>
            <a:pPr indent="0" marL="0">
              <a:buNone/>
            </a:pPr>
            <a:r>
              <a:rPr lang="en-US" sz="1250" dirty="0">
                <a:solidFill>
                  <a:srgbClr val="5C6B7A"/>
                </a:solidFill>
                <a:latin typeface="Calibri" pitchFamily="34" charset="0"/>
                <a:ea typeface="Calibri" pitchFamily="34" charset="-122"/>
                <a:cs typeface="Calibri" pitchFamily="34" charset="-120"/>
              </a:rPr>
              <a:t>マイコンを変えるとソフトを作り直し。移植コストが大きかった。</a:t>
            </a:r>
            <a:endParaRPr lang="en-US" sz="1250" dirty="0"/>
          </a:p>
        </p:txBody>
      </p:sp>
      <p:sp>
        <p:nvSpPr>
          <p:cNvPr id="27" name="Text 21"/>
          <p:cNvSpPr/>
          <p:nvPr/>
        </p:nvSpPr>
        <p:spPr>
          <a:xfrm>
            <a:off x="548640" y="5440680"/>
            <a:ext cx="11064240" cy="640080"/>
          </a:xfrm>
          <a:prstGeom prst="rect">
            <a:avLst/>
          </a:prstGeom>
          <a:solidFill>
            <a:srgbClr val="D7EEF0"/>
          </a:solidFill>
          <a:ln/>
        </p:spPr>
        <p:txBody>
          <a:bodyPr wrap="square" lIns="1524" tIns="1524" rIns="1524" bIns="1524" rtlCol="0" anchor="ctr"/>
          <a:lstStyle/>
          <a:p>
            <a:pPr algn="l" indent="0" marL="0">
              <a:buNone/>
            </a:pPr>
            <a:r>
              <a:rPr lang="en-US" sz="1350" b="1" dirty="0">
                <a:solidFill>
                  <a:srgbClr val="0E9AA7"/>
                </a:solidFill>
                <a:latin typeface="Calibri" pitchFamily="34" charset="0"/>
                <a:ea typeface="Calibri" pitchFamily="34" charset="-122"/>
                <a:cs typeface="Calibri" pitchFamily="34" charset="-120"/>
              </a:rPr>
              <a:t>結論：  </a:t>
            </a:r>
            <a:pPr algn="l" indent="0" marL="0">
              <a:buNone/>
            </a:pPr>
            <a:r>
              <a:rPr lang="en-US" sz="1350" dirty="0">
                <a:solidFill>
                  <a:srgbClr val="1B2A3A"/>
                </a:solidFill>
                <a:latin typeface="Calibri" pitchFamily="34" charset="0"/>
                <a:ea typeface="Calibri" pitchFamily="34" charset="-122"/>
                <a:cs typeface="Calibri" pitchFamily="34" charset="-120"/>
              </a:rPr>
              <a:t>個社ごとの作り込みでは立ち行かない。「共通の土台」を業界で作り、その上で各社が競う、という発想が生まれた。</a:t>
            </a:r>
            <a:endParaRPr lang="en-US" sz="1350" dirty="0"/>
          </a:p>
        </p:txBody>
      </p:sp>
      <p:sp>
        <p:nvSpPr>
          <p:cNvPr id="28" name="Text 22"/>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04</a:t>
            </a:r>
            <a:endParaRPr lang="en-US" sz="1100" dirty="0"/>
          </a:p>
        </p:txBody>
      </p:sp>
      <p:sp>
        <p:nvSpPr>
          <p:cNvPr id="29" name="Text 23"/>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05</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PHILOSOPHY</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AUTOSARの基本思想</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「ハードとソフトの分離」が、再利用と相互運用を可能にする</a:t>
            </a:r>
            <a:endParaRPr lang="en-US" sz="1400" dirty="0"/>
          </a:p>
        </p:txBody>
      </p:sp>
      <p:sp>
        <p:nvSpPr>
          <p:cNvPr id="7" name="Shape 5"/>
          <p:cNvSpPr/>
          <p:nvPr/>
        </p:nvSpPr>
        <p:spPr>
          <a:xfrm>
            <a:off x="548640" y="2286000"/>
            <a:ext cx="3593592" cy="2834640"/>
          </a:xfrm>
          <a:prstGeom prst="roundRect">
            <a:avLst>
              <a:gd name="adj" fmla="val 2581"/>
            </a:avLst>
          </a:prstGeom>
          <a:solidFill>
            <a:srgbClr val="162232"/>
          </a:solidFill>
          <a:ln/>
          <a:effectLst>
            <a:outerShdw sx="100000" sy="100000" kx="0" ky="0" algn="bl" rotWithShape="0" blurRad="88900" dist="38100" dir="5400000">
              <a:srgbClr val="000000">
                <a:alpha val="13000"/>
              </a:srgbClr>
            </a:outerShdw>
          </a:effectLst>
        </p:spPr>
      </p:sp>
      <p:sp>
        <p:nvSpPr>
          <p:cNvPr id="8" name="Shape 6"/>
          <p:cNvSpPr/>
          <p:nvPr/>
        </p:nvSpPr>
        <p:spPr>
          <a:xfrm>
            <a:off x="1888236" y="2651760"/>
            <a:ext cx="914400" cy="914400"/>
          </a:xfrm>
          <a:prstGeom prst="ellipse">
            <a:avLst/>
          </a:prstGeom>
          <a:solidFill>
            <a:srgbClr val="0E9AA7"/>
          </a:solidFill>
          <a:ln/>
        </p:spPr>
      </p:sp>
      <p:pic>
        <p:nvPicPr>
          <p:cNvPr id="9" name="Image 0" descr="preencoded.png">    </p:cNvPr>
          <p:cNvPicPr>
            <a:picLocks noChangeAspect="1"/>
          </p:cNvPicPr>
          <p:nvPr/>
        </p:nvPicPr>
        <p:blipFill>
          <a:blip r:embed="rId1"/>
          <a:stretch>
            <a:fillRect/>
          </a:stretch>
        </p:blipFill>
        <p:spPr>
          <a:xfrm>
            <a:off x="2071116" y="2834640"/>
            <a:ext cx="548640" cy="548640"/>
          </a:xfrm>
          <a:prstGeom prst="rect">
            <a:avLst/>
          </a:prstGeom>
        </p:spPr>
      </p:pic>
      <p:sp>
        <p:nvSpPr>
          <p:cNvPr id="10" name="Text 7"/>
          <p:cNvSpPr/>
          <p:nvPr/>
        </p:nvSpPr>
        <p:spPr>
          <a:xfrm>
            <a:off x="777240" y="3657600"/>
            <a:ext cx="3136392" cy="640080"/>
          </a:xfrm>
          <a:prstGeom prst="rect">
            <a:avLst/>
          </a:prstGeom>
          <a:noFill/>
          <a:ln/>
        </p:spPr>
        <p:txBody>
          <a:bodyPr wrap="square" lIns="0" tIns="0" rIns="0" bIns="0" rtlCol="0" anchor="t"/>
          <a:lstStyle/>
          <a:p>
            <a:pPr algn="ctr" indent="0" marL="0">
              <a:buNone/>
            </a:pPr>
            <a:r>
              <a:rPr lang="en-US" sz="1650" b="1" dirty="0">
                <a:solidFill>
                  <a:srgbClr val="FFFFFF"/>
                </a:solidFill>
                <a:latin typeface="Calibri" pitchFamily="34" charset="0"/>
                <a:ea typeface="Calibri" pitchFamily="34" charset="-122"/>
                <a:cs typeface="Calibri" pitchFamily="34" charset="-120"/>
              </a:rPr>
              <a:t>ハードとソフトの分離</a:t>
            </a:r>
            <a:endParaRPr lang="en-US" sz="1650" dirty="0"/>
          </a:p>
        </p:txBody>
      </p:sp>
      <p:sp>
        <p:nvSpPr>
          <p:cNvPr id="11" name="Text 8"/>
          <p:cNvSpPr/>
          <p:nvPr/>
        </p:nvSpPr>
        <p:spPr>
          <a:xfrm>
            <a:off x="841248" y="4279392"/>
            <a:ext cx="3008376" cy="777240"/>
          </a:xfrm>
          <a:prstGeom prst="rect">
            <a:avLst/>
          </a:prstGeom>
          <a:noFill/>
          <a:ln/>
        </p:spPr>
        <p:txBody>
          <a:bodyPr wrap="square" lIns="0" tIns="0" rIns="0" bIns="0" rtlCol="0" anchor="ctr"/>
          <a:lstStyle/>
          <a:p>
            <a:pPr algn="ctr" indent="0" marL="0">
              <a:buNone/>
            </a:pPr>
            <a:r>
              <a:rPr lang="en-US" sz="1200" dirty="0">
                <a:solidFill>
                  <a:srgbClr val="BFCDD9"/>
                </a:solidFill>
                <a:latin typeface="Calibri" pitchFamily="34" charset="0"/>
                <a:ea typeface="Calibri" pitchFamily="34" charset="-122"/>
                <a:cs typeface="Calibri" pitchFamily="34" charset="-120"/>
              </a:rPr>
              <a:t>アプリは共通インタフェース越しに動く。マイコンの違いは下の層が吸収する。</a:t>
            </a:r>
            <a:endParaRPr lang="en-US" sz="1200" dirty="0"/>
          </a:p>
        </p:txBody>
      </p:sp>
      <p:sp>
        <p:nvSpPr>
          <p:cNvPr id="12" name="Shape 9"/>
          <p:cNvSpPr/>
          <p:nvPr/>
        </p:nvSpPr>
        <p:spPr>
          <a:xfrm>
            <a:off x="4288536" y="2286000"/>
            <a:ext cx="3593592" cy="2834640"/>
          </a:xfrm>
          <a:prstGeom prst="roundRect">
            <a:avLst>
              <a:gd name="adj" fmla="val 2581"/>
            </a:avLst>
          </a:prstGeom>
          <a:solidFill>
            <a:srgbClr val="162232"/>
          </a:solidFill>
          <a:ln/>
          <a:effectLst>
            <a:outerShdw sx="100000" sy="100000" kx="0" ky="0" algn="bl" rotWithShape="0" blurRad="88900" dist="38100" dir="5400000">
              <a:srgbClr val="000000">
                <a:alpha val="13000"/>
              </a:srgbClr>
            </a:outerShdw>
          </a:effectLst>
        </p:spPr>
      </p:sp>
      <p:sp>
        <p:nvSpPr>
          <p:cNvPr id="13" name="Shape 10"/>
          <p:cNvSpPr/>
          <p:nvPr/>
        </p:nvSpPr>
        <p:spPr>
          <a:xfrm>
            <a:off x="5628132" y="2651760"/>
            <a:ext cx="914400" cy="914400"/>
          </a:xfrm>
          <a:prstGeom prst="ellipse">
            <a:avLst/>
          </a:prstGeom>
          <a:solidFill>
            <a:srgbClr val="0E9AA7"/>
          </a:solidFill>
          <a:ln/>
        </p:spPr>
      </p:sp>
      <p:pic>
        <p:nvPicPr>
          <p:cNvPr id="14" name="Image 1" descr="preencoded.png">    </p:cNvPr>
          <p:cNvPicPr>
            <a:picLocks noChangeAspect="1"/>
          </p:cNvPicPr>
          <p:nvPr/>
        </p:nvPicPr>
        <p:blipFill>
          <a:blip r:embed="rId2"/>
          <a:stretch>
            <a:fillRect/>
          </a:stretch>
        </p:blipFill>
        <p:spPr>
          <a:xfrm>
            <a:off x="5811012" y="2834640"/>
            <a:ext cx="548640" cy="548640"/>
          </a:xfrm>
          <a:prstGeom prst="rect">
            <a:avLst/>
          </a:prstGeom>
        </p:spPr>
      </p:pic>
      <p:sp>
        <p:nvSpPr>
          <p:cNvPr id="15" name="Text 11"/>
          <p:cNvSpPr/>
          <p:nvPr/>
        </p:nvSpPr>
        <p:spPr>
          <a:xfrm>
            <a:off x="4517136" y="3657600"/>
            <a:ext cx="3136392" cy="640080"/>
          </a:xfrm>
          <a:prstGeom prst="rect">
            <a:avLst/>
          </a:prstGeom>
          <a:noFill/>
          <a:ln/>
        </p:spPr>
        <p:txBody>
          <a:bodyPr wrap="square" lIns="0" tIns="0" rIns="0" bIns="0" rtlCol="0" anchor="t"/>
          <a:lstStyle/>
          <a:p>
            <a:pPr algn="ctr" indent="0" marL="0">
              <a:buNone/>
            </a:pPr>
            <a:r>
              <a:rPr lang="en-US" sz="1650" b="1" dirty="0">
                <a:solidFill>
                  <a:srgbClr val="FFFFFF"/>
                </a:solidFill>
                <a:latin typeface="Calibri" pitchFamily="34" charset="0"/>
                <a:ea typeface="Calibri" pitchFamily="34" charset="-122"/>
                <a:cs typeface="Calibri" pitchFamily="34" charset="-120"/>
              </a:rPr>
              <a:t>ソフトウェアの再利用</a:t>
            </a:r>
            <a:endParaRPr lang="en-US" sz="1650" dirty="0"/>
          </a:p>
        </p:txBody>
      </p:sp>
      <p:sp>
        <p:nvSpPr>
          <p:cNvPr id="16" name="Text 12"/>
          <p:cNvSpPr/>
          <p:nvPr/>
        </p:nvSpPr>
        <p:spPr>
          <a:xfrm>
            <a:off x="4581144" y="4279392"/>
            <a:ext cx="3008376" cy="777240"/>
          </a:xfrm>
          <a:prstGeom prst="rect">
            <a:avLst/>
          </a:prstGeom>
          <a:noFill/>
          <a:ln/>
        </p:spPr>
        <p:txBody>
          <a:bodyPr wrap="square" lIns="0" tIns="0" rIns="0" bIns="0" rtlCol="0" anchor="ctr"/>
          <a:lstStyle/>
          <a:p>
            <a:pPr algn="ctr" indent="0" marL="0">
              <a:buNone/>
            </a:pPr>
            <a:r>
              <a:rPr lang="en-US" sz="1200" dirty="0">
                <a:solidFill>
                  <a:srgbClr val="BFCDD9"/>
                </a:solidFill>
                <a:latin typeface="Calibri" pitchFamily="34" charset="0"/>
                <a:ea typeface="Calibri" pitchFamily="34" charset="-122"/>
                <a:cs typeface="Calibri" pitchFamily="34" charset="-120"/>
              </a:rPr>
              <a:t>標準化された部品（コンポーネント）を、車種やサプライヤをまたいで使い回せる。</a:t>
            </a:r>
            <a:endParaRPr lang="en-US" sz="1200" dirty="0"/>
          </a:p>
        </p:txBody>
      </p:sp>
      <p:sp>
        <p:nvSpPr>
          <p:cNvPr id="17" name="Shape 13"/>
          <p:cNvSpPr/>
          <p:nvPr/>
        </p:nvSpPr>
        <p:spPr>
          <a:xfrm>
            <a:off x="8028432" y="2286000"/>
            <a:ext cx="3593592" cy="2834640"/>
          </a:xfrm>
          <a:prstGeom prst="roundRect">
            <a:avLst>
              <a:gd name="adj" fmla="val 2581"/>
            </a:avLst>
          </a:prstGeom>
          <a:solidFill>
            <a:srgbClr val="162232"/>
          </a:solidFill>
          <a:ln/>
          <a:effectLst>
            <a:outerShdw sx="100000" sy="100000" kx="0" ky="0" algn="bl" rotWithShape="0" blurRad="88900" dist="38100" dir="5400000">
              <a:srgbClr val="000000">
                <a:alpha val="13000"/>
              </a:srgbClr>
            </a:outerShdw>
          </a:effectLst>
        </p:spPr>
      </p:sp>
      <p:sp>
        <p:nvSpPr>
          <p:cNvPr id="18" name="Shape 14"/>
          <p:cNvSpPr/>
          <p:nvPr/>
        </p:nvSpPr>
        <p:spPr>
          <a:xfrm>
            <a:off x="9368028" y="2651760"/>
            <a:ext cx="914400" cy="914400"/>
          </a:xfrm>
          <a:prstGeom prst="ellipse">
            <a:avLst/>
          </a:prstGeom>
          <a:solidFill>
            <a:srgbClr val="0E9AA7"/>
          </a:solidFill>
          <a:ln/>
        </p:spPr>
      </p:sp>
      <p:pic>
        <p:nvPicPr>
          <p:cNvPr id="19" name="Image 2" descr="preencoded.png">    </p:cNvPr>
          <p:cNvPicPr>
            <a:picLocks noChangeAspect="1"/>
          </p:cNvPicPr>
          <p:nvPr/>
        </p:nvPicPr>
        <p:blipFill>
          <a:blip r:embed="rId3"/>
          <a:stretch>
            <a:fillRect/>
          </a:stretch>
        </p:blipFill>
        <p:spPr>
          <a:xfrm>
            <a:off x="9550908" y="2834640"/>
            <a:ext cx="548640" cy="548640"/>
          </a:xfrm>
          <a:prstGeom prst="rect">
            <a:avLst/>
          </a:prstGeom>
        </p:spPr>
      </p:pic>
      <p:sp>
        <p:nvSpPr>
          <p:cNvPr id="20" name="Text 15"/>
          <p:cNvSpPr/>
          <p:nvPr/>
        </p:nvSpPr>
        <p:spPr>
          <a:xfrm>
            <a:off x="8257032" y="3657600"/>
            <a:ext cx="3136392" cy="640080"/>
          </a:xfrm>
          <a:prstGeom prst="rect">
            <a:avLst/>
          </a:prstGeom>
          <a:noFill/>
          <a:ln/>
        </p:spPr>
        <p:txBody>
          <a:bodyPr wrap="square" lIns="0" tIns="0" rIns="0" bIns="0" rtlCol="0" anchor="t"/>
          <a:lstStyle/>
          <a:p>
            <a:pPr algn="ctr" indent="0" marL="0">
              <a:buNone/>
            </a:pPr>
            <a:r>
              <a:rPr lang="en-US" sz="1650" b="1" dirty="0">
                <a:solidFill>
                  <a:srgbClr val="FFFFFF"/>
                </a:solidFill>
                <a:latin typeface="Calibri" pitchFamily="34" charset="0"/>
                <a:ea typeface="Calibri" pitchFamily="34" charset="-122"/>
                <a:cs typeface="Calibri" pitchFamily="34" charset="-120"/>
              </a:rPr>
              <a:t>相互運用性</a:t>
            </a:r>
            <a:endParaRPr lang="en-US" sz="1650" dirty="0"/>
          </a:p>
        </p:txBody>
      </p:sp>
      <p:sp>
        <p:nvSpPr>
          <p:cNvPr id="21" name="Text 16"/>
          <p:cNvSpPr/>
          <p:nvPr/>
        </p:nvSpPr>
        <p:spPr>
          <a:xfrm>
            <a:off x="8321040" y="4279392"/>
            <a:ext cx="3008376" cy="777240"/>
          </a:xfrm>
          <a:prstGeom prst="rect">
            <a:avLst/>
          </a:prstGeom>
          <a:noFill/>
          <a:ln/>
        </p:spPr>
        <p:txBody>
          <a:bodyPr wrap="square" lIns="0" tIns="0" rIns="0" bIns="0" rtlCol="0" anchor="ctr"/>
          <a:lstStyle/>
          <a:p>
            <a:pPr algn="ctr" indent="0" marL="0">
              <a:buNone/>
            </a:pPr>
            <a:r>
              <a:rPr lang="en-US" sz="1200" dirty="0">
                <a:solidFill>
                  <a:srgbClr val="BFCDD9"/>
                </a:solidFill>
                <a:latin typeface="Calibri" pitchFamily="34" charset="0"/>
                <a:ea typeface="Calibri" pitchFamily="34" charset="-122"/>
                <a:cs typeface="Calibri" pitchFamily="34" charset="-120"/>
              </a:rPr>
              <a:t>共通のインタフェース定義により、異なるベンダのソフト同士を組み合わせられる。</a:t>
            </a:r>
            <a:endParaRPr lang="en-US" sz="1200" dirty="0"/>
          </a:p>
        </p:txBody>
      </p:sp>
      <p:sp>
        <p:nvSpPr>
          <p:cNvPr id="22" name="Shape 17"/>
          <p:cNvSpPr/>
          <p:nvPr/>
        </p:nvSpPr>
        <p:spPr>
          <a:xfrm>
            <a:off x="548640" y="5349240"/>
            <a:ext cx="11064240" cy="777240"/>
          </a:xfrm>
          <a:prstGeom prst="roundRect">
            <a:avLst>
              <a:gd name="adj" fmla="val 9412"/>
            </a:avLst>
          </a:prstGeom>
          <a:solidFill>
            <a:srgbClr val="FBEBD5"/>
          </a:solidFill>
          <a:ln/>
        </p:spPr>
      </p:sp>
      <p:sp>
        <p:nvSpPr>
          <p:cNvPr id="23" name="Text 18"/>
          <p:cNvSpPr/>
          <p:nvPr/>
        </p:nvSpPr>
        <p:spPr>
          <a:xfrm>
            <a:off x="548640" y="5349240"/>
            <a:ext cx="11064240" cy="777240"/>
          </a:xfrm>
          <a:prstGeom prst="rect">
            <a:avLst/>
          </a:prstGeom>
          <a:noFill/>
          <a:ln/>
        </p:spPr>
        <p:txBody>
          <a:bodyPr wrap="square" lIns="0" tIns="0" rIns="0" bIns="0" rtlCol="0" anchor="ctr"/>
          <a:lstStyle/>
          <a:p>
            <a:pPr algn="ctr" indent="0" marL="0">
              <a:buNone/>
            </a:pPr>
            <a:r>
              <a:rPr lang="en-US" sz="1450" b="1" dirty="0">
                <a:solidFill>
                  <a:srgbClr val="E08A2B"/>
                </a:solidFill>
                <a:latin typeface="Calibri" pitchFamily="34" charset="0"/>
                <a:ea typeface="Calibri" pitchFamily="34" charset="-122"/>
                <a:cs typeface="Calibri" pitchFamily="34" charset="-120"/>
              </a:rPr>
              <a:t>合言葉  </a:t>
            </a:r>
            <a:pPr algn="ctr" indent="0" marL="0">
              <a:buNone/>
            </a:pPr>
            <a:r>
              <a:rPr lang="en-US" sz="1450" i="1" dirty="0">
                <a:solidFill>
                  <a:srgbClr val="1B2A3A"/>
                </a:solidFill>
                <a:latin typeface="Calibri" pitchFamily="34" charset="0"/>
                <a:ea typeface="Calibri" pitchFamily="34" charset="-122"/>
                <a:cs typeface="Calibri" pitchFamily="34" charset="-120"/>
              </a:rPr>
              <a:t>“Cooperate on standards, compete on implementation” — 標準では協調し、実装で競争する。</a:t>
            </a:r>
            <a:endParaRPr lang="en-US" sz="1450" dirty="0"/>
          </a:p>
        </p:txBody>
      </p:sp>
      <p:sp>
        <p:nvSpPr>
          <p:cNvPr id="24" name="Text 19"/>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05</a:t>
            </a:r>
            <a:endParaRPr lang="en-US" sz="1100" dirty="0"/>
          </a:p>
        </p:txBody>
      </p:sp>
      <p:sp>
        <p:nvSpPr>
          <p:cNvPr id="25" name="Text 20"/>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06</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CLASSIC PLATFORM</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Classic Platform (CP) の概要</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従来からの基盤。3階層の積み重ねで「ハードを隠す」</a:t>
            </a:r>
            <a:endParaRPr lang="en-US" sz="1400" dirty="0"/>
          </a:p>
        </p:txBody>
      </p:sp>
      <p:sp>
        <p:nvSpPr>
          <p:cNvPr id="7" name="Shape 5"/>
          <p:cNvSpPr/>
          <p:nvPr/>
        </p:nvSpPr>
        <p:spPr>
          <a:xfrm>
            <a:off x="640080" y="2331720"/>
            <a:ext cx="4937760" cy="960120"/>
          </a:xfrm>
          <a:prstGeom prst="roundRect">
            <a:avLst>
              <a:gd name="adj" fmla="val 5714"/>
            </a:avLst>
          </a:prstGeom>
          <a:solidFill>
            <a:srgbClr val="0E9AA7"/>
          </a:solidFill>
          <a:ln/>
          <a:effectLst>
            <a:outerShdw sx="100000" sy="100000" kx="0" ky="0" algn="bl" rotWithShape="0" blurRad="88900" dist="38100" dir="5400000">
              <a:srgbClr val="000000">
                <a:alpha val="13000"/>
              </a:srgbClr>
            </a:outerShdw>
          </a:effectLst>
        </p:spPr>
      </p:sp>
      <p:sp>
        <p:nvSpPr>
          <p:cNvPr id="8" name="Text 6"/>
          <p:cNvSpPr/>
          <p:nvPr/>
        </p:nvSpPr>
        <p:spPr>
          <a:xfrm>
            <a:off x="868680" y="2459736"/>
            <a:ext cx="448056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Application Layer</a:t>
            </a:r>
            <a:endParaRPr lang="en-US" sz="1550" dirty="0"/>
          </a:p>
        </p:txBody>
      </p:sp>
      <p:sp>
        <p:nvSpPr>
          <p:cNvPr id="9" name="Text 7"/>
          <p:cNvSpPr/>
          <p:nvPr/>
        </p:nvSpPr>
        <p:spPr>
          <a:xfrm>
            <a:off x="868680" y="2834640"/>
            <a:ext cx="4480560" cy="384048"/>
          </a:xfrm>
          <a:prstGeom prst="rect">
            <a:avLst/>
          </a:prstGeom>
          <a:noFill/>
          <a:ln/>
        </p:spPr>
        <p:txBody>
          <a:bodyPr wrap="square" lIns="0" tIns="0" rIns="0" bIns="0" rtlCol="0" anchor="ctr"/>
          <a:lstStyle/>
          <a:p>
            <a:pPr indent="0" marL="0">
              <a:buNone/>
            </a:pPr>
            <a:r>
              <a:rPr lang="en-US" sz="1150" dirty="0">
                <a:solidFill>
                  <a:srgbClr val="EAF0F4"/>
                </a:solidFill>
                <a:latin typeface="Calibri" pitchFamily="34" charset="0"/>
                <a:ea typeface="Calibri" pitchFamily="34" charset="-122"/>
                <a:cs typeface="Calibri" pitchFamily="34" charset="-120"/>
              </a:rPr>
              <a:t>ソフトウェアコンポーネント（SW-C）＝ 機能の部品</a:t>
            </a:r>
            <a:endParaRPr lang="en-US" sz="1150" dirty="0"/>
          </a:p>
        </p:txBody>
      </p:sp>
      <p:sp>
        <p:nvSpPr>
          <p:cNvPr id="10" name="Shape 8"/>
          <p:cNvSpPr/>
          <p:nvPr/>
        </p:nvSpPr>
        <p:spPr>
          <a:xfrm>
            <a:off x="640080" y="3429000"/>
            <a:ext cx="4937760" cy="960120"/>
          </a:xfrm>
          <a:prstGeom prst="roundRect">
            <a:avLst>
              <a:gd name="adj" fmla="val 5714"/>
            </a:avLst>
          </a:prstGeom>
          <a:solidFill>
            <a:srgbClr val="E08A2B"/>
          </a:solidFill>
          <a:ln/>
          <a:effectLst>
            <a:outerShdw sx="100000" sy="100000" kx="0" ky="0" algn="bl" rotWithShape="0" blurRad="88900" dist="38100" dir="5400000">
              <a:srgbClr val="000000">
                <a:alpha val="13000"/>
              </a:srgbClr>
            </a:outerShdw>
          </a:effectLst>
        </p:spPr>
      </p:sp>
      <p:sp>
        <p:nvSpPr>
          <p:cNvPr id="11" name="Text 9"/>
          <p:cNvSpPr/>
          <p:nvPr/>
        </p:nvSpPr>
        <p:spPr>
          <a:xfrm>
            <a:off x="868680" y="3557016"/>
            <a:ext cx="448056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RTE （Runtime Environment）</a:t>
            </a:r>
            <a:endParaRPr lang="en-US" sz="1550" dirty="0"/>
          </a:p>
        </p:txBody>
      </p:sp>
      <p:sp>
        <p:nvSpPr>
          <p:cNvPr id="12" name="Text 10"/>
          <p:cNvSpPr/>
          <p:nvPr/>
        </p:nvSpPr>
        <p:spPr>
          <a:xfrm>
            <a:off x="868680" y="3931920"/>
            <a:ext cx="4480560" cy="384048"/>
          </a:xfrm>
          <a:prstGeom prst="rect">
            <a:avLst/>
          </a:prstGeom>
          <a:noFill/>
          <a:ln/>
        </p:spPr>
        <p:txBody>
          <a:bodyPr wrap="square" lIns="0" tIns="0" rIns="0" bIns="0" rtlCol="0" anchor="ctr"/>
          <a:lstStyle/>
          <a:p>
            <a:pPr indent="0" marL="0">
              <a:buNone/>
            </a:pPr>
            <a:r>
              <a:rPr lang="en-US" sz="1150" dirty="0">
                <a:solidFill>
                  <a:srgbClr val="EAF0F4"/>
                </a:solidFill>
                <a:latin typeface="Calibri" pitchFamily="34" charset="0"/>
                <a:ea typeface="Calibri" pitchFamily="34" charset="-122"/>
                <a:cs typeface="Calibri" pitchFamily="34" charset="-120"/>
              </a:rPr>
              <a:t>部品間をつなぐ通信路。VFBを実体化</a:t>
            </a:r>
            <a:endParaRPr lang="en-US" sz="1150" dirty="0"/>
          </a:p>
        </p:txBody>
      </p:sp>
      <p:sp>
        <p:nvSpPr>
          <p:cNvPr id="13" name="Shape 11"/>
          <p:cNvSpPr/>
          <p:nvPr/>
        </p:nvSpPr>
        <p:spPr>
          <a:xfrm>
            <a:off x="640080" y="4526280"/>
            <a:ext cx="4937760" cy="960120"/>
          </a:xfrm>
          <a:prstGeom prst="roundRect">
            <a:avLst>
              <a:gd name="adj" fmla="val 5714"/>
            </a:avLst>
          </a:prstGeom>
          <a:solidFill>
            <a:srgbClr val="162232"/>
          </a:solidFill>
          <a:ln/>
          <a:effectLst>
            <a:outerShdw sx="100000" sy="100000" kx="0" ky="0" algn="bl" rotWithShape="0" blurRad="88900" dist="38100" dir="5400000">
              <a:srgbClr val="000000">
                <a:alpha val="13000"/>
              </a:srgbClr>
            </a:outerShdw>
          </a:effectLst>
        </p:spPr>
      </p:sp>
      <p:sp>
        <p:nvSpPr>
          <p:cNvPr id="14" name="Text 12"/>
          <p:cNvSpPr/>
          <p:nvPr/>
        </p:nvSpPr>
        <p:spPr>
          <a:xfrm>
            <a:off x="868680" y="4654296"/>
            <a:ext cx="4480560" cy="38404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BSW （Basic Software / OSを含む）</a:t>
            </a:r>
            <a:endParaRPr lang="en-US" sz="1550" dirty="0"/>
          </a:p>
        </p:txBody>
      </p:sp>
      <p:sp>
        <p:nvSpPr>
          <p:cNvPr id="15" name="Text 13"/>
          <p:cNvSpPr/>
          <p:nvPr/>
        </p:nvSpPr>
        <p:spPr>
          <a:xfrm>
            <a:off x="868680" y="5029200"/>
            <a:ext cx="4480560" cy="384048"/>
          </a:xfrm>
          <a:prstGeom prst="rect">
            <a:avLst/>
          </a:prstGeom>
          <a:noFill/>
          <a:ln/>
        </p:spPr>
        <p:txBody>
          <a:bodyPr wrap="square" lIns="0" tIns="0" rIns="0" bIns="0" rtlCol="0" anchor="ctr"/>
          <a:lstStyle/>
          <a:p>
            <a:pPr indent="0" marL="0">
              <a:buNone/>
            </a:pPr>
            <a:r>
              <a:rPr lang="en-US" sz="1150" dirty="0">
                <a:solidFill>
                  <a:srgbClr val="EAF0F4"/>
                </a:solidFill>
                <a:latin typeface="Calibri" pitchFamily="34" charset="0"/>
                <a:ea typeface="Calibri" pitchFamily="34" charset="-122"/>
                <a:cs typeface="Calibri" pitchFamily="34" charset="-120"/>
              </a:rPr>
              <a:t>ドライバ・通信・診断など。ハード差を吸収</a:t>
            </a:r>
            <a:endParaRPr lang="en-US" sz="1150" dirty="0"/>
          </a:p>
        </p:txBody>
      </p:sp>
      <p:sp>
        <p:nvSpPr>
          <p:cNvPr id="16" name="Shape 14"/>
          <p:cNvSpPr/>
          <p:nvPr/>
        </p:nvSpPr>
        <p:spPr>
          <a:xfrm>
            <a:off x="1188720" y="5641848"/>
            <a:ext cx="3840480" cy="457200"/>
          </a:xfrm>
          <a:prstGeom prst="rect">
            <a:avLst/>
          </a:prstGeom>
          <a:solidFill>
            <a:srgbClr val="EAEFF3"/>
          </a:solidFill>
          <a:ln/>
        </p:spPr>
      </p:sp>
      <p:sp>
        <p:nvSpPr>
          <p:cNvPr id="17" name="Text 15"/>
          <p:cNvSpPr/>
          <p:nvPr/>
        </p:nvSpPr>
        <p:spPr>
          <a:xfrm>
            <a:off x="1188720" y="5641848"/>
            <a:ext cx="3840480" cy="457200"/>
          </a:xfrm>
          <a:prstGeom prst="rect">
            <a:avLst/>
          </a:prstGeom>
          <a:noFill/>
          <a:ln/>
        </p:spPr>
        <p:txBody>
          <a:bodyPr wrap="square" lIns="0" tIns="0" rIns="0" bIns="0" rtlCol="0" anchor="ctr"/>
          <a:lstStyle/>
          <a:p>
            <a:pPr algn="ctr" indent="0" marL="0">
              <a:buNone/>
            </a:pPr>
            <a:r>
              <a:rPr lang="en-US" sz="1250" b="1" dirty="0">
                <a:solidFill>
                  <a:srgbClr val="5C6B7A"/>
                </a:solidFill>
                <a:latin typeface="Calibri" pitchFamily="34" charset="0"/>
                <a:ea typeface="Calibri" pitchFamily="34" charset="-122"/>
                <a:cs typeface="Calibri" pitchFamily="34" charset="-120"/>
              </a:rPr>
              <a:t>マイコン（ハードウェア）</a:t>
            </a:r>
            <a:endParaRPr lang="en-US" sz="1250" dirty="0"/>
          </a:p>
        </p:txBody>
      </p:sp>
      <p:sp>
        <p:nvSpPr>
          <p:cNvPr id="18" name="Text 16"/>
          <p:cNvSpPr/>
          <p:nvPr/>
        </p:nvSpPr>
        <p:spPr>
          <a:xfrm>
            <a:off x="5943600" y="2286000"/>
            <a:ext cx="5669280" cy="365760"/>
          </a:xfrm>
          <a:prstGeom prst="rect">
            <a:avLst/>
          </a:prstGeom>
          <a:noFill/>
          <a:ln/>
        </p:spPr>
        <p:txBody>
          <a:bodyPr wrap="square" rtlCol="0" anchor="ctr"/>
          <a:lstStyle/>
          <a:p>
            <a:pPr indent="0" marL="0">
              <a:buNone/>
            </a:pPr>
            <a:r>
              <a:rPr lang="en-US" sz="1400" b="1" spc="100" kern="0" dirty="0">
                <a:solidFill>
                  <a:srgbClr val="0E9AA7"/>
                </a:solidFill>
                <a:latin typeface="Calibri" pitchFamily="34" charset="0"/>
                <a:ea typeface="Calibri" pitchFamily="34" charset="-122"/>
                <a:cs typeface="Calibri" pitchFamily="34" charset="-120"/>
              </a:rPr>
              <a:t>特徴</a:t>
            </a:r>
            <a:endParaRPr lang="en-US" sz="1400" dirty="0"/>
          </a:p>
        </p:txBody>
      </p:sp>
      <p:pic>
        <p:nvPicPr>
          <p:cNvPr id="19" name="Image 0" descr="preencoded.png">    </p:cNvPr>
          <p:cNvPicPr>
            <a:picLocks noChangeAspect="1"/>
          </p:cNvPicPr>
          <p:nvPr/>
        </p:nvPicPr>
        <p:blipFill>
          <a:blip r:embed="rId1"/>
          <a:stretch>
            <a:fillRect/>
          </a:stretch>
        </p:blipFill>
        <p:spPr>
          <a:xfrm>
            <a:off x="5943600" y="2788920"/>
            <a:ext cx="274320" cy="274320"/>
          </a:xfrm>
          <a:prstGeom prst="rect">
            <a:avLst/>
          </a:prstGeom>
        </p:spPr>
      </p:pic>
      <p:sp>
        <p:nvSpPr>
          <p:cNvPr id="20" name="Text 17"/>
          <p:cNvSpPr/>
          <p:nvPr/>
        </p:nvSpPr>
        <p:spPr>
          <a:xfrm>
            <a:off x="6327648" y="2743200"/>
            <a:ext cx="5285232" cy="502920"/>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静的な構成  </a:t>
            </a:r>
            <a:pPr indent="0" marL="0">
              <a:buNone/>
            </a:pPr>
            <a:r>
              <a:rPr lang="en-US" sz="1300" dirty="0">
                <a:solidFill>
                  <a:srgbClr val="5C6B7A"/>
                </a:solidFill>
                <a:latin typeface="Calibri" pitchFamily="34" charset="0"/>
                <a:ea typeface="Calibri" pitchFamily="34" charset="-122"/>
                <a:cs typeface="Calibri" pitchFamily="34" charset="-120"/>
              </a:rPr>
              <a:t>— 起動時に構成が決まる。実行中に増えたりしない</a:t>
            </a:r>
            <a:endParaRPr lang="en-US" sz="1300" dirty="0"/>
          </a:p>
        </p:txBody>
      </p:sp>
      <p:pic>
        <p:nvPicPr>
          <p:cNvPr id="21" name="Image 1" descr="preencoded.png">    </p:cNvPr>
          <p:cNvPicPr>
            <a:picLocks noChangeAspect="1"/>
          </p:cNvPicPr>
          <p:nvPr/>
        </p:nvPicPr>
        <p:blipFill>
          <a:blip r:embed="rId2"/>
          <a:stretch>
            <a:fillRect/>
          </a:stretch>
        </p:blipFill>
        <p:spPr>
          <a:xfrm>
            <a:off x="5943600" y="3447288"/>
            <a:ext cx="274320" cy="274320"/>
          </a:xfrm>
          <a:prstGeom prst="rect">
            <a:avLst/>
          </a:prstGeom>
        </p:spPr>
      </p:pic>
      <p:sp>
        <p:nvSpPr>
          <p:cNvPr id="22" name="Text 18"/>
          <p:cNvSpPr/>
          <p:nvPr/>
        </p:nvSpPr>
        <p:spPr>
          <a:xfrm>
            <a:off x="6327648" y="3401568"/>
            <a:ext cx="5285232" cy="502920"/>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静的OSベース  </a:t>
            </a:r>
            <a:pPr indent="0" marL="0">
              <a:buNone/>
            </a:pPr>
            <a:r>
              <a:rPr lang="en-US" sz="1300" dirty="0">
                <a:solidFill>
                  <a:srgbClr val="5C6B7A"/>
                </a:solidFill>
                <a:latin typeface="Calibri" pitchFamily="34" charset="0"/>
                <a:ea typeface="Calibri" pitchFamily="34" charset="-122"/>
                <a:cs typeface="Calibri" pitchFamily="34" charset="-120"/>
              </a:rPr>
              <a:t>— OSEK/VDX系の小さなOS。決められたタスクを確実に回す</a:t>
            </a:r>
            <a:endParaRPr lang="en-US" sz="1300" dirty="0"/>
          </a:p>
        </p:txBody>
      </p:sp>
      <p:pic>
        <p:nvPicPr>
          <p:cNvPr id="23" name="Image 2" descr="preencoded.png">    </p:cNvPr>
          <p:cNvPicPr>
            <a:picLocks noChangeAspect="1"/>
          </p:cNvPicPr>
          <p:nvPr/>
        </p:nvPicPr>
        <p:blipFill>
          <a:blip r:embed="rId3"/>
          <a:stretch>
            <a:fillRect/>
          </a:stretch>
        </p:blipFill>
        <p:spPr>
          <a:xfrm>
            <a:off x="5943600" y="4105656"/>
            <a:ext cx="274320" cy="274320"/>
          </a:xfrm>
          <a:prstGeom prst="rect">
            <a:avLst/>
          </a:prstGeom>
        </p:spPr>
      </p:pic>
      <p:sp>
        <p:nvSpPr>
          <p:cNvPr id="24" name="Text 19"/>
          <p:cNvSpPr/>
          <p:nvPr/>
        </p:nvSpPr>
        <p:spPr>
          <a:xfrm>
            <a:off x="6327648" y="4059936"/>
            <a:ext cx="5285232" cy="502920"/>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ハードリアルタイム性  </a:t>
            </a:r>
            <a:pPr indent="0" marL="0">
              <a:buNone/>
            </a:pPr>
            <a:r>
              <a:rPr lang="en-US" sz="1300" dirty="0">
                <a:solidFill>
                  <a:srgbClr val="5C6B7A"/>
                </a:solidFill>
                <a:latin typeface="Calibri" pitchFamily="34" charset="0"/>
                <a:ea typeface="Calibri" pitchFamily="34" charset="-122"/>
                <a:cs typeface="Calibri" pitchFamily="34" charset="-120"/>
              </a:rPr>
              <a:t>— 決められた時間内に必ず処理。制御系で重要</a:t>
            </a:r>
            <a:endParaRPr lang="en-US" sz="1300" dirty="0"/>
          </a:p>
        </p:txBody>
      </p:sp>
      <p:pic>
        <p:nvPicPr>
          <p:cNvPr id="25" name="Image 3" descr="preencoded.png">    </p:cNvPr>
          <p:cNvPicPr>
            <a:picLocks noChangeAspect="1"/>
          </p:cNvPicPr>
          <p:nvPr/>
        </p:nvPicPr>
        <p:blipFill>
          <a:blip r:embed="rId4"/>
          <a:stretch>
            <a:fillRect/>
          </a:stretch>
        </p:blipFill>
        <p:spPr>
          <a:xfrm>
            <a:off x="5943600" y="4764024"/>
            <a:ext cx="274320" cy="274320"/>
          </a:xfrm>
          <a:prstGeom prst="rect">
            <a:avLst/>
          </a:prstGeom>
        </p:spPr>
      </p:pic>
      <p:sp>
        <p:nvSpPr>
          <p:cNvPr id="26" name="Text 20"/>
          <p:cNvSpPr/>
          <p:nvPr/>
        </p:nvSpPr>
        <p:spPr>
          <a:xfrm>
            <a:off x="6327648" y="4718304"/>
            <a:ext cx="5285232" cy="502920"/>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C言語 / 小規模マイコン  </a:t>
            </a:r>
            <a:pPr indent="0" marL="0">
              <a:buNone/>
            </a:pPr>
            <a:r>
              <a:rPr lang="en-US" sz="1300" dirty="0">
                <a:solidFill>
                  <a:srgbClr val="5C6B7A"/>
                </a:solidFill>
                <a:latin typeface="Calibri" pitchFamily="34" charset="0"/>
                <a:ea typeface="Calibri" pitchFamily="34" charset="-122"/>
                <a:cs typeface="Calibri" pitchFamily="34" charset="-120"/>
              </a:rPr>
              <a:t>— 限られたメモリ・性能の組み込みマイコン向け</a:t>
            </a:r>
            <a:endParaRPr lang="en-US" sz="1300" dirty="0"/>
          </a:p>
        </p:txBody>
      </p:sp>
      <p:pic>
        <p:nvPicPr>
          <p:cNvPr id="27" name="Image 4" descr="preencoded.png">    </p:cNvPr>
          <p:cNvPicPr>
            <a:picLocks noChangeAspect="1"/>
          </p:cNvPicPr>
          <p:nvPr/>
        </p:nvPicPr>
        <p:blipFill>
          <a:blip r:embed="rId5"/>
          <a:stretch>
            <a:fillRect/>
          </a:stretch>
        </p:blipFill>
        <p:spPr>
          <a:xfrm>
            <a:off x="5943600" y="5422392"/>
            <a:ext cx="274320" cy="274320"/>
          </a:xfrm>
          <a:prstGeom prst="rect">
            <a:avLst/>
          </a:prstGeom>
        </p:spPr>
      </p:pic>
      <p:sp>
        <p:nvSpPr>
          <p:cNvPr id="28" name="Text 21"/>
          <p:cNvSpPr/>
          <p:nvPr/>
        </p:nvSpPr>
        <p:spPr>
          <a:xfrm>
            <a:off x="6327648" y="5376672"/>
            <a:ext cx="5285232" cy="502920"/>
          </a:xfrm>
          <a:prstGeom prst="rect">
            <a:avLst/>
          </a:prstGeom>
          <a:noFill/>
          <a:ln/>
        </p:spPr>
        <p:txBody>
          <a:bodyPr wrap="square" lIns="0" tIns="0" rIns="0" bIns="0" rtlCol="0" anchor="ctr"/>
          <a:lstStyle/>
          <a:p>
            <a:pPr indent="0" marL="0">
              <a:buNone/>
            </a:pPr>
            <a:r>
              <a:rPr lang="en-US" sz="1300" b="1" dirty="0">
                <a:solidFill>
                  <a:srgbClr val="1B2A3A"/>
                </a:solidFill>
                <a:latin typeface="Calibri" pitchFamily="34" charset="0"/>
                <a:ea typeface="Calibri" pitchFamily="34" charset="-122"/>
                <a:cs typeface="Calibri" pitchFamily="34" charset="-120"/>
              </a:rPr>
              <a:t>主な用途：制御系ECU  </a:t>
            </a:r>
            <a:pPr indent="0" marL="0">
              <a:buNone/>
            </a:pPr>
            <a:r>
              <a:rPr lang="en-US" sz="1300" dirty="0">
                <a:solidFill>
                  <a:srgbClr val="5C6B7A"/>
                </a:solidFill>
                <a:latin typeface="Calibri" pitchFamily="34" charset="0"/>
                <a:ea typeface="Calibri" pitchFamily="34" charset="-122"/>
                <a:cs typeface="Calibri" pitchFamily="34" charset="-120"/>
              </a:rPr>
              <a:t>— エンジン、ブレーキ、ボディなど</a:t>
            </a:r>
            <a:endParaRPr lang="en-US" sz="1300" dirty="0"/>
          </a:p>
        </p:txBody>
      </p:sp>
      <p:sp>
        <p:nvSpPr>
          <p:cNvPr id="29" name="Text 22"/>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06</a:t>
            </a:r>
            <a:endParaRPr lang="en-US" sz="1100" dirty="0"/>
          </a:p>
        </p:txBody>
      </p:sp>
      <p:sp>
        <p:nvSpPr>
          <p:cNvPr id="30" name="Text 23"/>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07</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TURNING POINT</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CPだけでは足りなくなった</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自動運転・コネクテッドが、まったく違う要求を持ち込んだ</a:t>
            </a:r>
            <a:endParaRPr lang="en-US" sz="1400" dirty="0"/>
          </a:p>
        </p:txBody>
      </p:sp>
      <p:sp>
        <p:nvSpPr>
          <p:cNvPr id="7" name="Shape 5"/>
          <p:cNvSpPr/>
          <p:nvPr/>
        </p:nvSpPr>
        <p:spPr>
          <a:xfrm>
            <a:off x="548640" y="2286000"/>
            <a:ext cx="5394960" cy="3154680"/>
          </a:xfrm>
          <a:prstGeom prst="roundRect">
            <a:avLst>
              <a:gd name="adj" fmla="val 2319"/>
            </a:avLst>
          </a:prstGeom>
          <a:solidFill>
            <a:srgbClr val="F4F6F8"/>
          </a:solidFill>
          <a:ln/>
          <a:effectLst>
            <a:outerShdw sx="100000" sy="100000" kx="0" ky="0" algn="bl" rotWithShape="0" blurRad="88900" dist="38100" dir="5400000">
              <a:srgbClr val="000000">
                <a:alpha val="13000"/>
              </a:srgbClr>
            </a:outerShdw>
          </a:effectLst>
        </p:spPr>
      </p:sp>
      <p:sp>
        <p:nvSpPr>
          <p:cNvPr id="8" name="Text 6"/>
          <p:cNvSpPr/>
          <p:nvPr/>
        </p:nvSpPr>
        <p:spPr>
          <a:xfrm>
            <a:off x="868680" y="2514600"/>
            <a:ext cx="4754880" cy="411480"/>
          </a:xfrm>
          <a:prstGeom prst="rect">
            <a:avLst/>
          </a:prstGeom>
          <a:noFill/>
          <a:ln/>
        </p:spPr>
        <p:txBody>
          <a:bodyPr wrap="square" rtlCol="0" anchor="ctr"/>
          <a:lstStyle/>
          <a:p>
            <a:pPr indent="0" marL="0">
              <a:buNone/>
            </a:pPr>
            <a:r>
              <a:rPr lang="en-US" sz="1600" b="1" dirty="0">
                <a:solidFill>
                  <a:srgbClr val="0E9AA7"/>
                </a:solidFill>
                <a:latin typeface="Calibri" pitchFamily="34" charset="0"/>
                <a:ea typeface="Calibri" pitchFamily="34" charset="-122"/>
                <a:cs typeface="Calibri" pitchFamily="34" charset="-120"/>
              </a:rPr>
              <a:t>CPが得意な領域</a:t>
            </a:r>
            <a:endParaRPr lang="en-US" sz="1600" dirty="0"/>
          </a:p>
        </p:txBody>
      </p:sp>
      <p:pic>
        <p:nvPicPr>
          <p:cNvPr id="9" name="Image 0" descr="preencoded.png">    </p:cNvPr>
          <p:cNvPicPr>
            <a:picLocks noChangeAspect="1"/>
          </p:cNvPicPr>
          <p:nvPr/>
        </p:nvPicPr>
        <p:blipFill>
          <a:blip r:embed="rId1"/>
          <a:stretch>
            <a:fillRect/>
          </a:stretch>
        </p:blipFill>
        <p:spPr>
          <a:xfrm>
            <a:off x="868680" y="3108960"/>
            <a:ext cx="292608" cy="292608"/>
          </a:xfrm>
          <a:prstGeom prst="rect">
            <a:avLst/>
          </a:prstGeom>
        </p:spPr>
      </p:pic>
      <p:sp>
        <p:nvSpPr>
          <p:cNvPr id="10" name="Text 7"/>
          <p:cNvSpPr/>
          <p:nvPr/>
        </p:nvSpPr>
        <p:spPr>
          <a:xfrm>
            <a:off x="1280160" y="3063240"/>
            <a:ext cx="4480560" cy="365760"/>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決められた制御を確実に</a:t>
            </a:r>
            <a:endParaRPr lang="en-US" sz="1400" dirty="0"/>
          </a:p>
        </p:txBody>
      </p:sp>
      <p:sp>
        <p:nvSpPr>
          <p:cNvPr id="11" name="Text 8"/>
          <p:cNvSpPr/>
          <p:nvPr/>
        </p:nvSpPr>
        <p:spPr>
          <a:xfrm>
            <a:off x="1280160" y="3410712"/>
            <a:ext cx="4480560" cy="32004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ミリ秒単位の周期処理</a:t>
            </a:r>
            <a:endParaRPr lang="en-US" sz="1150" dirty="0"/>
          </a:p>
        </p:txBody>
      </p:sp>
      <p:pic>
        <p:nvPicPr>
          <p:cNvPr id="12" name="Image 1" descr="preencoded.png">    </p:cNvPr>
          <p:cNvPicPr>
            <a:picLocks noChangeAspect="1"/>
          </p:cNvPicPr>
          <p:nvPr/>
        </p:nvPicPr>
        <p:blipFill>
          <a:blip r:embed="rId2"/>
          <a:stretch>
            <a:fillRect/>
          </a:stretch>
        </p:blipFill>
        <p:spPr>
          <a:xfrm>
            <a:off x="868680" y="3886200"/>
            <a:ext cx="292608" cy="292608"/>
          </a:xfrm>
          <a:prstGeom prst="rect">
            <a:avLst/>
          </a:prstGeom>
        </p:spPr>
      </p:pic>
      <p:sp>
        <p:nvSpPr>
          <p:cNvPr id="13" name="Text 9"/>
          <p:cNvSpPr/>
          <p:nvPr/>
        </p:nvSpPr>
        <p:spPr>
          <a:xfrm>
            <a:off x="1280160" y="3840480"/>
            <a:ext cx="4480560" cy="365760"/>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小さく・軽く・止まらない</a:t>
            </a:r>
            <a:endParaRPr lang="en-US" sz="1400" dirty="0"/>
          </a:p>
        </p:txBody>
      </p:sp>
      <p:sp>
        <p:nvSpPr>
          <p:cNvPr id="14" name="Text 10"/>
          <p:cNvSpPr/>
          <p:nvPr/>
        </p:nvSpPr>
        <p:spPr>
          <a:xfrm>
            <a:off x="1280160" y="4187952"/>
            <a:ext cx="4480560" cy="32004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限られた資源で堅く動く</a:t>
            </a:r>
            <a:endParaRPr lang="en-US" sz="1150" dirty="0"/>
          </a:p>
        </p:txBody>
      </p:sp>
      <p:pic>
        <p:nvPicPr>
          <p:cNvPr id="15" name="Image 2" descr="preencoded.png">    </p:cNvPr>
          <p:cNvPicPr>
            <a:picLocks noChangeAspect="1"/>
          </p:cNvPicPr>
          <p:nvPr/>
        </p:nvPicPr>
        <p:blipFill>
          <a:blip r:embed="rId3"/>
          <a:stretch>
            <a:fillRect/>
          </a:stretch>
        </p:blipFill>
        <p:spPr>
          <a:xfrm>
            <a:off x="868680" y="4663440"/>
            <a:ext cx="292608" cy="292608"/>
          </a:xfrm>
          <a:prstGeom prst="rect">
            <a:avLst/>
          </a:prstGeom>
        </p:spPr>
      </p:pic>
      <p:sp>
        <p:nvSpPr>
          <p:cNvPr id="16" name="Text 11"/>
          <p:cNvSpPr/>
          <p:nvPr/>
        </p:nvSpPr>
        <p:spPr>
          <a:xfrm>
            <a:off x="1280160" y="4617720"/>
            <a:ext cx="4480560" cy="365760"/>
          </a:xfrm>
          <a:prstGeom prst="rect">
            <a:avLst/>
          </a:prstGeom>
          <a:noFill/>
          <a:ln/>
        </p:spPr>
        <p:txBody>
          <a:bodyPr wrap="square" lIns="0" tIns="0" rIns="0" bIns="0" rtlCol="0" anchor="ctr"/>
          <a:lstStyle/>
          <a:p>
            <a:pPr indent="0" marL="0">
              <a:buNone/>
            </a:pPr>
            <a:r>
              <a:rPr lang="en-US" sz="1400" b="1" dirty="0">
                <a:solidFill>
                  <a:srgbClr val="1B2A3A"/>
                </a:solidFill>
                <a:latin typeface="Calibri" pitchFamily="34" charset="0"/>
                <a:ea typeface="Calibri" pitchFamily="34" charset="-122"/>
                <a:cs typeface="Calibri" pitchFamily="34" charset="-120"/>
              </a:rPr>
              <a:t>安全性とリアルタイム性優先</a:t>
            </a:r>
            <a:endParaRPr lang="en-US" sz="1400" dirty="0"/>
          </a:p>
        </p:txBody>
      </p:sp>
      <p:sp>
        <p:nvSpPr>
          <p:cNvPr id="17" name="Text 12"/>
          <p:cNvSpPr/>
          <p:nvPr/>
        </p:nvSpPr>
        <p:spPr>
          <a:xfrm>
            <a:off x="1280160" y="4965192"/>
            <a:ext cx="4480560" cy="320040"/>
          </a:xfrm>
          <a:prstGeom prst="rect">
            <a:avLst/>
          </a:prstGeom>
          <a:noFill/>
          <a:ln/>
        </p:spPr>
        <p:txBody>
          <a:bodyPr wrap="square" lIns="0" tIns="0" rIns="0" bIns="0" rtlCol="0" anchor="ctr"/>
          <a:lstStyle/>
          <a:p>
            <a:pPr indent="0" marL="0">
              <a:buNone/>
            </a:pPr>
            <a:r>
              <a:rPr lang="en-US" sz="1150" dirty="0">
                <a:solidFill>
                  <a:srgbClr val="5C6B7A"/>
                </a:solidFill>
                <a:latin typeface="Calibri" pitchFamily="34" charset="0"/>
                <a:ea typeface="Calibri" pitchFamily="34" charset="-122"/>
                <a:cs typeface="Calibri" pitchFamily="34" charset="-120"/>
              </a:rPr>
              <a:t>誤動作が許されない</a:t>
            </a:r>
            <a:endParaRPr lang="en-US" sz="1150" dirty="0"/>
          </a:p>
        </p:txBody>
      </p:sp>
      <p:sp>
        <p:nvSpPr>
          <p:cNvPr id="18" name="Shape 13"/>
          <p:cNvSpPr/>
          <p:nvPr/>
        </p:nvSpPr>
        <p:spPr>
          <a:xfrm>
            <a:off x="6217920" y="2286000"/>
            <a:ext cx="5394960" cy="3154680"/>
          </a:xfrm>
          <a:prstGeom prst="roundRect">
            <a:avLst>
              <a:gd name="adj" fmla="val 2319"/>
            </a:avLst>
          </a:prstGeom>
          <a:solidFill>
            <a:srgbClr val="162232"/>
          </a:solidFill>
          <a:ln/>
          <a:effectLst>
            <a:outerShdw sx="100000" sy="100000" kx="0" ky="0" algn="bl" rotWithShape="0" blurRad="88900" dist="38100" dir="5400000">
              <a:srgbClr val="000000">
                <a:alpha val="13000"/>
              </a:srgbClr>
            </a:outerShdw>
          </a:effectLst>
        </p:spPr>
      </p:sp>
      <p:sp>
        <p:nvSpPr>
          <p:cNvPr id="19" name="Text 14"/>
          <p:cNvSpPr/>
          <p:nvPr/>
        </p:nvSpPr>
        <p:spPr>
          <a:xfrm>
            <a:off x="6537960" y="2514600"/>
            <a:ext cx="4754880" cy="411480"/>
          </a:xfrm>
          <a:prstGeom prst="rect">
            <a:avLst/>
          </a:prstGeom>
          <a:noFill/>
          <a:ln/>
        </p:spPr>
        <p:txBody>
          <a:bodyPr wrap="square" rtlCol="0" anchor="ctr"/>
          <a:lstStyle/>
          <a:p>
            <a:pPr indent="0" marL="0">
              <a:buNone/>
            </a:pPr>
            <a:r>
              <a:rPr lang="en-US" sz="1600" b="1" dirty="0">
                <a:solidFill>
                  <a:srgbClr val="E08A2B"/>
                </a:solidFill>
                <a:latin typeface="Calibri" pitchFamily="34" charset="0"/>
                <a:ea typeface="Calibri" pitchFamily="34" charset="-122"/>
                <a:cs typeface="Calibri" pitchFamily="34" charset="-120"/>
              </a:rPr>
              <a:t>新時代が突きつける要求</a:t>
            </a:r>
            <a:endParaRPr lang="en-US" sz="1600" dirty="0"/>
          </a:p>
        </p:txBody>
      </p:sp>
      <p:sp>
        <p:nvSpPr>
          <p:cNvPr id="20" name="Shape 15"/>
          <p:cNvSpPr/>
          <p:nvPr/>
        </p:nvSpPr>
        <p:spPr>
          <a:xfrm>
            <a:off x="6537960" y="3035808"/>
            <a:ext cx="420624" cy="420624"/>
          </a:xfrm>
          <a:prstGeom prst="ellipse">
            <a:avLst/>
          </a:prstGeom>
          <a:solidFill>
            <a:srgbClr val="20344A"/>
          </a:solidFill>
          <a:ln/>
        </p:spPr>
      </p:sp>
      <p:pic>
        <p:nvPicPr>
          <p:cNvPr id="21" name="Image 3" descr="preencoded.png">    </p:cNvPr>
          <p:cNvPicPr>
            <a:picLocks noChangeAspect="1"/>
          </p:cNvPicPr>
          <p:nvPr/>
        </p:nvPicPr>
        <p:blipFill>
          <a:blip r:embed="rId4"/>
          <a:stretch>
            <a:fillRect/>
          </a:stretch>
        </p:blipFill>
        <p:spPr>
          <a:xfrm>
            <a:off x="6647688" y="3145536"/>
            <a:ext cx="201168" cy="201168"/>
          </a:xfrm>
          <a:prstGeom prst="rect">
            <a:avLst/>
          </a:prstGeom>
        </p:spPr>
      </p:pic>
      <p:sp>
        <p:nvSpPr>
          <p:cNvPr id="22" name="Text 16"/>
          <p:cNvSpPr/>
          <p:nvPr/>
        </p:nvSpPr>
        <p:spPr>
          <a:xfrm>
            <a:off x="7086600" y="3035808"/>
            <a:ext cx="4389120" cy="42062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大量データの処理  </a:t>
            </a:r>
            <a:pPr indent="0" marL="0">
              <a:buNone/>
            </a:pPr>
            <a:r>
              <a:rPr lang="en-US" sz="1250" dirty="0">
                <a:solidFill>
                  <a:srgbClr val="AEBECD"/>
                </a:solidFill>
                <a:latin typeface="Calibri" pitchFamily="34" charset="0"/>
                <a:ea typeface="Calibri" pitchFamily="34" charset="-122"/>
                <a:cs typeface="Calibri" pitchFamily="34" charset="-120"/>
              </a:rPr>
              <a:t>— カメラ・LiDAR・センサフュージョン</a:t>
            </a:r>
            <a:endParaRPr lang="en-US" sz="1250" dirty="0"/>
          </a:p>
        </p:txBody>
      </p:sp>
      <p:sp>
        <p:nvSpPr>
          <p:cNvPr id="23" name="Shape 17"/>
          <p:cNvSpPr/>
          <p:nvPr/>
        </p:nvSpPr>
        <p:spPr>
          <a:xfrm>
            <a:off x="6537960" y="3611880"/>
            <a:ext cx="420624" cy="420624"/>
          </a:xfrm>
          <a:prstGeom prst="ellipse">
            <a:avLst/>
          </a:prstGeom>
          <a:solidFill>
            <a:srgbClr val="20344A"/>
          </a:solidFill>
          <a:ln/>
        </p:spPr>
      </p:sp>
      <p:pic>
        <p:nvPicPr>
          <p:cNvPr id="24" name="Image 4" descr="preencoded.png">    </p:cNvPr>
          <p:cNvPicPr>
            <a:picLocks noChangeAspect="1"/>
          </p:cNvPicPr>
          <p:nvPr/>
        </p:nvPicPr>
        <p:blipFill>
          <a:blip r:embed="rId5"/>
          <a:stretch>
            <a:fillRect/>
          </a:stretch>
        </p:blipFill>
        <p:spPr>
          <a:xfrm>
            <a:off x="6647688" y="3721608"/>
            <a:ext cx="201168" cy="201168"/>
          </a:xfrm>
          <a:prstGeom prst="rect">
            <a:avLst/>
          </a:prstGeom>
        </p:spPr>
      </p:pic>
      <p:sp>
        <p:nvSpPr>
          <p:cNvPr id="25" name="Text 18"/>
          <p:cNvSpPr/>
          <p:nvPr/>
        </p:nvSpPr>
        <p:spPr>
          <a:xfrm>
            <a:off x="7086600" y="3611880"/>
            <a:ext cx="4389120" cy="42062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車外との動的な通信  </a:t>
            </a:r>
            <a:pPr indent="0" marL="0">
              <a:buNone/>
            </a:pPr>
            <a:r>
              <a:rPr lang="en-US" sz="1250" dirty="0">
                <a:solidFill>
                  <a:srgbClr val="AEBECD"/>
                </a:solidFill>
                <a:latin typeface="Calibri" pitchFamily="34" charset="0"/>
                <a:ea typeface="Calibri" pitchFamily="34" charset="-122"/>
                <a:cs typeface="Calibri" pitchFamily="34" charset="-120"/>
              </a:rPr>
              <a:t>— クラウド連携・V2X・OTA更新</a:t>
            </a:r>
            <a:endParaRPr lang="en-US" sz="1250" dirty="0"/>
          </a:p>
        </p:txBody>
      </p:sp>
      <p:sp>
        <p:nvSpPr>
          <p:cNvPr id="26" name="Shape 19"/>
          <p:cNvSpPr/>
          <p:nvPr/>
        </p:nvSpPr>
        <p:spPr>
          <a:xfrm>
            <a:off x="6537960" y="4187952"/>
            <a:ext cx="420624" cy="420624"/>
          </a:xfrm>
          <a:prstGeom prst="ellipse">
            <a:avLst/>
          </a:prstGeom>
          <a:solidFill>
            <a:srgbClr val="20344A"/>
          </a:solidFill>
          <a:ln/>
        </p:spPr>
      </p:sp>
      <p:pic>
        <p:nvPicPr>
          <p:cNvPr id="27" name="Image 5" descr="preencoded.png">    </p:cNvPr>
          <p:cNvPicPr>
            <a:picLocks noChangeAspect="1"/>
          </p:cNvPicPr>
          <p:nvPr/>
        </p:nvPicPr>
        <p:blipFill>
          <a:blip r:embed="rId6"/>
          <a:stretch>
            <a:fillRect/>
          </a:stretch>
        </p:blipFill>
        <p:spPr>
          <a:xfrm>
            <a:off x="6647688" y="4297680"/>
            <a:ext cx="201168" cy="201168"/>
          </a:xfrm>
          <a:prstGeom prst="rect">
            <a:avLst/>
          </a:prstGeom>
        </p:spPr>
      </p:pic>
      <p:sp>
        <p:nvSpPr>
          <p:cNvPr id="28" name="Text 20"/>
          <p:cNvSpPr/>
          <p:nvPr/>
        </p:nvSpPr>
        <p:spPr>
          <a:xfrm>
            <a:off x="7086600" y="4187952"/>
            <a:ext cx="4389120" cy="42062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高性能プロセッサ  </a:t>
            </a:r>
            <a:pPr indent="0" marL="0">
              <a:buNone/>
            </a:pPr>
            <a:r>
              <a:rPr lang="en-US" sz="1250" dirty="0">
                <a:solidFill>
                  <a:srgbClr val="AEBECD"/>
                </a:solidFill>
                <a:latin typeface="Calibri" pitchFamily="34" charset="0"/>
                <a:ea typeface="Calibri" pitchFamily="34" charset="-122"/>
                <a:cs typeface="Calibri" pitchFamily="34" charset="-120"/>
              </a:rPr>
              <a:t>— GPU・マルチコア／メニーコア</a:t>
            </a:r>
            <a:endParaRPr lang="en-US" sz="1250" dirty="0"/>
          </a:p>
        </p:txBody>
      </p:sp>
      <p:sp>
        <p:nvSpPr>
          <p:cNvPr id="29" name="Shape 21"/>
          <p:cNvSpPr/>
          <p:nvPr/>
        </p:nvSpPr>
        <p:spPr>
          <a:xfrm>
            <a:off x="6537960" y="4764024"/>
            <a:ext cx="420624" cy="420624"/>
          </a:xfrm>
          <a:prstGeom prst="ellipse">
            <a:avLst/>
          </a:prstGeom>
          <a:solidFill>
            <a:srgbClr val="20344A"/>
          </a:solidFill>
          <a:ln/>
        </p:spPr>
      </p:sp>
      <p:pic>
        <p:nvPicPr>
          <p:cNvPr id="30" name="Image 6" descr="preencoded.png">    </p:cNvPr>
          <p:cNvPicPr>
            <a:picLocks noChangeAspect="1"/>
          </p:cNvPicPr>
          <p:nvPr/>
        </p:nvPicPr>
        <p:blipFill>
          <a:blip r:embed="rId7"/>
          <a:stretch>
            <a:fillRect/>
          </a:stretch>
        </p:blipFill>
        <p:spPr>
          <a:xfrm>
            <a:off x="6647688" y="4873752"/>
            <a:ext cx="201168" cy="201168"/>
          </a:xfrm>
          <a:prstGeom prst="rect">
            <a:avLst/>
          </a:prstGeom>
        </p:spPr>
      </p:pic>
      <p:sp>
        <p:nvSpPr>
          <p:cNvPr id="31" name="Text 22"/>
          <p:cNvSpPr/>
          <p:nvPr/>
        </p:nvSpPr>
        <p:spPr>
          <a:xfrm>
            <a:off x="7086600" y="4764024"/>
            <a:ext cx="4389120" cy="420624"/>
          </a:xfrm>
          <a:prstGeom prst="rect">
            <a:avLst/>
          </a:prstGeom>
          <a:noFill/>
          <a:ln/>
        </p:spPr>
        <p:txBody>
          <a:bodyPr wrap="square" lIns="0" tIns="0" rIns="0" bIns="0"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後からの機能追加・更新  </a:t>
            </a:r>
            <a:pPr indent="0" marL="0">
              <a:buNone/>
            </a:pPr>
            <a:r>
              <a:rPr lang="en-US" sz="1250" dirty="0">
                <a:solidFill>
                  <a:srgbClr val="AEBECD"/>
                </a:solidFill>
                <a:latin typeface="Calibri" pitchFamily="34" charset="0"/>
                <a:ea typeface="Calibri" pitchFamily="34" charset="-122"/>
                <a:cs typeface="Calibri" pitchFamily="34" charset="-120"/>
              </a:rPr>
              <a:t>— アプリを動的に入れ替える</a:t>
            </a:r>
            <a:endParaRPr lang="en-US" sz="1250" dirty="0"/>
          </a:p>
        </p:txBody>
      </p:sp>
      <p:sp>
        <p:nvSpPr>
          <p:cNvPr id="32" name="Text 23"/>
          <p:cNvSpPr/>
          <p:nvPr/>
        </p:nvSpPr>
        <p:spPr>
          <a:xfrm>
            <a:off x="6217920" y="5559552"/>
            <a:ext cx="5394960" cy="411480"/>
          </a:xfrm>
          <a:prstGeom prst="rect">
            <a:avLst/>
          </a:prstGeom>
          <a:noFill/>
          <a:ln/>
        </p:spPr>
        <p:txBody>
          <a:bodyPr wrap="square" lIns="0" tIns="0" rIns="0" bIns="0" rtlCol="0" anchor="ctr"/>
          <a:lstStyle/>
          <a:p>
            <a:pPr algn="ctr" indent="0" marL="0">
              <a:buNone/>
            </a:pPr>
            <a:r>
              <a:rPr lang="en-US" sz="1250" b="1" i="1" dirty="0">
                <a:solidFill>
                  <a:srgbClr val="E08A2B"/>
                </a:solidFill>
                <a:latin typeface="Calibri" pitchFamily="34" charset="0"/>
                <a:ea typeface="Calibri" pitchFamily="34" charset="-122"/>
                <a:cs typeface="Calibri" pitchFamily="34" charset="-120"/>
              </a:rPr>
              <a:t>→ 静的・小規模マイコン前提のCPでは、これらに応えきれない</a:t>
            </a:r>
            <a:endParaRPr lang="en-US" sz="1250" dirty="0"/>
          </a:p>
        </p:txBody>
      </p:sp>
      <p:sp>
        <p:nvSpPr>
          <p:cNvPr id="33" name="Text 24"/>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07</a:t>
            </a:r>
            <a:endParaRPr lang="en-US" sz="1100" dirty="0"/>
          </a:p>
        </p:txBody>
      </p:sp>
      <p:sp>
        <p:nvSpPr>
          <p:cNvPr id="34" name="Text 25"/>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08</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WHY ADAPTIVE</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Adaptive Platform 登場の4つの駆動要因</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運転支援・自動運転を量産車へ載せるために求められたもの</a:t>
            </a:r>
            <a:endParaRPr lang="en-US" sz="1400" dirty="0"/>
          </a:p>
        </p:txBody>
      </p:sp>
      <p:sp>
        <p:nvSpPr>
          <p:cNvPr id="7" name="Shape 5"/>
          <p:cNvSpPr/>
          <p:nvPr/>
        </p:nvSpPr>
        <p:spPr>
          <a:xfrm>
            <a:off x="548640" y="2286000"/>
            <a:ext cx="5440680" cy="1463040"/>
          </a:xfrm>
          <a:prstGeom prst="roundRect">
            <a:avLst>
              <a:gd name="adj" fmla="val 5000"/>
            </a:avLst>
          </a:prstGeom>
          <a:solidFill>
            <a:srgbClr val="162232"/>
          </a:solidFill>
          <a:ln/>
          <a:effectLst>
            <a:outerShdw sx="100000" sy="100000" kx="0" ky="0" algn="bl" rotWithShape="0" blurRad="88900" dist="38100" dir="5400000">
              <a:srgbClr val="000000">
                <a:alpha val="13000"/>
              </a:srgbClr>
            </a:outerShdw>
          </a:effectLst>
        </p:spPr>
      </p:sp>
      <p:sp>
        <p:nvSpPr>
          <p:cNvPr id="8" name="Shape 6"/>
          <p:cNvSpPr/>
          <p:nvPr/>
        </p:nvSpPr>
        <p:spPr>
          <a:xfrm>
            <a:off x="822960" y="2743200"/>
            <a:ext cx="603504" cy="603504"/>
          </a:xfrm>
          <a:prstGeom prst="ellipse">
            <a:avLst/>
          </a:prstGeom>
          <a:solidFill>
            <a:srgbClr val="0E9AA7"/>
          </a:solidFill>
          <a:ln/>
        </p:spPr>
      </p:sp>
      <p:pic>
        <p:nvPicPr>
          <p:cNvPr id="9" name="Image 0" descr="preencoded.png">    </p:cNvPr>
          <p:cNvPicPr>
            <a:picLocks noChangeAspect="1"/>
          </p:cNvPicPr>
          <p:nvPr/>
        </p:nvPicPr>
        <p:blipFill>
          <a:blip r:embed="rId1"/>
          <a:stretch>
            <a:fillRect/>
          </a:stretch>
        </p:blipFill>
        <p:spPr>
          <a:xfrm>
            <a:off x="950976" y="2871216"/>
            <a:ext cx="347472" cy="347472"/>
          </a:xfrm>
          <a:prstGeom prst="rect">
            <a:avLst/>
          </a:prstGeom>
        </p:spPr>
      </p:pic>
      <p:sp>
        <p:nvSpPr>
          <p:cNvPr id="10" name="Text 7"/>
          <p:cNvSpPr/>
          <p:nvPr/>
        </p:nvSpPr>
        <p:spPr>
          <a:xfrm>
            <a:off x="1600200" y="2523744"/>
            <a:ext cx="425196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コネクティビティ</a:t>
            </a:r>
            <a:endParaRPr lang="en-US" sz="1800" dirty="0"/>
          </a:p>
        </p:txBody>
      </p:sp>
      <p:sp>
        <p:nvSpPr>
          <p:cNvPr id="11" name="Text 8"/>
          <p:cNvSpPr/>
          <p:nvPr/>
        </p:nvSpPr>
        <p:spPr>
          <a:xfrm>
            <a:off x="1600200" y="2999232"/>
            <a:ext cx="4206240" cy="658368"/>
          </a:xfrm>
          <a:prstGeom prst="rect">
            <a:avLst/>
          </a:prstGeom>
          <a:noFill/>
          <a:ln/>
        </p:spPr>
        <p:txBody>
          <a:bodyPr wrap="square" lIns="0" tIns="0" rIns="0" bIns="0" rtlCol="0" anchor="t"/>
          <a:lstStyle/>
          <a:p>
            <a:pPr indent="0" marL="0">
              <a:buNone/>
            </a:pPr>
            <a:r>
              <a:rPr lang="en-US" sz="1250" dirty="0">
                <a:solidFill>
                  <a:srgbClr val="BFCDD9"/>
                </a:solidFill>
                <a:latin typeface="Calibri" pitchFamily="34" charset="0"/>
                <a:ea typeface="Calibri" pitchFamily="34" charset="-122"/>
                <a:cs typeface="Calibri" pitchFamily="34" charset="-120"/>
              </a:rPr>
              <a:t>車内だけでなく車外の様々な相手との、大容量で動的な通信に対応する。</a:t>
            </a:r>
            <a:endParaRPr lang="en-US" sz="1250" dirty="0"/>
          </a:p>
        </p:txBody>
      </p:sp>
      <p:sp>
        <p:nvSpPr>
          <p:cNvPr id="12" name="Shape 9"/>
          <p:cNvSpPr/>
          <p:nvPr/>
        </p:nvSpPr>
        <p:spPr>
          <a:xfrm>
            <a:off x="6172200" y="2286000"/>
            <a:ext cx="5440680" cy="1463040"/>
          </a:xfrm>
          <a:prstGeom prst="roundRect">
            <a:avLst>
              <a:gd name="adj" fmla="val 5000"/>
            </a:avLst>
          </a:prstGeom>
          <a:solidFill>
            <a:srgbClr val="162232"/>
          </a:solidFill>
          <a:ln/>
          <a:effectLst>
            <a:outerShdw sx="100000" sy="100000" kx="0" ky="0" algn="bl" rotWithShape="0" blurRad="88900" dist="38100" dir="5400000">
              <a:srgbClr val="000000">
                <a:alpha val="13000"/>
              </a:srgbClr>
            </a:outerShdw>
          </a:effectLst>
        </p:spPr>
      </p:sp>
      <p:sp>
        <p:nvSpPr>
          <p:cNvPr id="13" name="Shape 10"/>
          <p:cNvSpPr/>
          <p:nvPr/>
        </p:nvSpPr>
        <p:spPr>
          <a:xfrm>
            <a:off x="6446520" y="2743200"/>
            <a:ext cx="603504" cy="603504"/>
          </a:xfrm>
          <a:prstGeom prst="ellipse">
            <a:avLst/>
          </a:prstGeom>
          <a:solidFill>
            <a:srgbClr val="0E9AA7"/>
          </a:solidFill>
          <a:ln/>
        </p:spPr>
      </p:sp>
      <p:pic>
        <p:nvPicPr>
          <p:cNvPr id="14" name="Image 1" descr="preencoded.png">    </p:cNvPr>
          <p:cNvPicPr>
            <a:picLocks noChangeAspect="1"/>
          </p:cNvPicPr>
          <p:nvPr/>
        </p:nvPicPr>
        <p:blipFill>
          <a:blip r:embed="rId2"/>
          <a:stretch>
            <a:fillRect/>
          </a:stretch>
        </p:blipFill>
        <p:spPr>
          <a:xfrm>
            <a:off x="6574536" y="2871216"/>
            <a:ext cx="347472" cy="347472"/>
          </a:xfrm>
          <a:prstGeom prst="rect">
            <a:avLst/>
          </a:prstGeom>
        </p:spPr>
      </p:pic>
      <p:sp>
        <p:nvSpPr>
          <p:cNvPr id="15" name="Text 11"/>
          <p:cNvSpPr/>
          <p:nvPr/>
        </p:nvSpPr>
        <p:spPr>
          <a:xfrm>
            <a:off x="7223760" y="2523744"/>
            <a:ext cx="425196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高性能演算（HPC）</a:t>
            </a:r>
            <a:endParaRPr lang="en-US" sz="1800" dirty="0"/>
          </a:p>
        </p:txBody>
      </p:sp>
      <p:sp>
        <p:nvSpPr>
          <p:cNvPr id="16" name="Text 12"/>
          <p:cNvSpPr/>
          <p:nvPr/>
        </p:nvSpPr>
        <p:spPr>
          <a:xfrm>
            <a:off x="7223760" y="2999232"/>
            <a:ext cx="4206240" cy="658368"/>
          </a:xfrm>
          <a:prstGeom prst="rect">
            <a:avLst/>
          </a:prstGeom>
          <a:noFill/>
          <a:ln/>
        </p:spPr>
        <p:txBody>
          <a:bodyPr wrap="square" lIns="0" tIns="0" rIns="0" bIns="0" rtlCol="0" anchor="t"/>
          <a:lstStyle/>
          <a:p>
            <a:pPr indent="0" marL="0">
              <a:buNone/>
            </a:pPr>
            <a:r>
              <a:rPr lang="en-US" sz="1250" dirty="0">
                <a:solidFill>
                  <a:srgbClr val="BFCDD9"/>
                </a:solidFill>
                <a:latin typeface="Calibri" pitchFamily="34" charset="0"/>
                <a:ea typeface="Calibri" pitchFamily="34" charset="-122"/>
                <a:cs typeface="Calibri" pitchFamily="34" charset="-120"/>
              </a:rPr>
              <a:t>大量メモリ・GPU・マルチコア／メニーコアといった高性能ハードを使う。</a:t>
            </a:r>
            <a:endParaRPr lang="en-US" sz="1250" dirty="0"/>
          </a:p>
        </p:txBody>
      </p:sp>
      <p:sp>
        <p:nvSpPr>
          <p:cNvPr id="17" name="Shape 13"/>
          <p:cNvSpPr/>
          <p:nvPr/>
        </p:nvSpPr>
        <p:spPr>
          <a:xfrm>
            <a:off x="548640" y="3931920"/>
            <a:ext cx="5440680" cy="1463040"/>
          </a:xfrm>
          <a:prstGeom prst="roundRect">
            <a:avLst>
              <a:gd name="adj" fmla="val 5000"/>
            </a:avLst>
          </a:prstGeom>
          <a:solidFill>
            <a:srgbClr val="162232"/>
          </a:solidFill>
          <a:ln/>
          <a:effectLst>
            <a:outerShdw sx="100000" sy="100000" kx="0" ky="0" algn="bl" rotWithShape="0" blurRad="88900" dist="38100" dir="5400000">
              <a:srgbClr val="000000">
                <a:alpha val="13000"/>
              </a:srgbClr>
            </a:outerShdw>
          </a:effectLst>
        </p:spPr>
      </p:sp>
      <p:sp>
        <p:nvSpPr>
          <p:cNvPr id="18" name="Shape 14"/>
          <p:cNvSpPr/>
          <p:nvPr/>
        </p:nvSpPr>
        <p:spPr>
          <a:xfrm>
            <a:off x="822960" y="4389120"/>
            <a:ext cx="603504" cy="603504"/>
          </a:xfrm>
          <a:prstGeom prst="ellipse">
            <a:avLst/>
          </a:prstGeom>
          <a:solidFill>
            <a:srgbClr val="0E9AA7"/>
          </a:solidFill>
          <a:ln/>
        </p:spPr>
      </p:sp>
      <p:pic>
        <p:nvPicPr>
          <p:cNvPr id="19" name="Image 2" descr="preencoded.png">    </p:cNvPr>
          <p:cNvPicPr>
            <a:picLocks noChangeAspect="1"/>
          </p:cNvPicPr>
          <p:nvPr/>
        </p:nvPicPr>
        <p:blipFill>
          <a:blip r:embed="rId3"/>
          <a:stretch>
            <a:fillRect/>
          </a:stretch>
        </p:blipFill>
        <p:spPr>
          <a:xfrm>
            <a:off x="950976" y="4517136"/>
            <a:ext cx="347472" cy="347472"/>
          </a:xfrm>
          <a:prstGeom prst="rect">
            <a:avLst/>
          </a:prstGeom>
        </p:spPr>
      </p:pic>
      <p:sp>
        <p:nvSpPr>
          <p:cNvPr id="20" name="Text 15"/>
          <p:cNvSpPr/>
          <p:nvPr/>
        </p:nvSpPr>
        <p:spPr>
          <a:xfrm>
            <a:off x="1600200" y="4169664"/>
            <a:ext cx="425196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既製品・OSSの活用</a:t>
            </a:r>
            <a:endParaRPr lang="en-US" sz="1800" dirty="0"/>
          </a:p>
        </p:txBody>
      </p:sp>
      <p:sp>
        <p:nvSpPr>
          <p:cNvPr id="21" name="Text 16"/>
          <p:cNvSpPr/>
          <p:nvPr/>
        </p:nvSpPr>
        <p:spPr>
          <a:xfrm>
            <a:off x="1600200" y="4645152"/>
            <a:ext cx="4206240" cy="658368"/>
          </a:xfrm>
          <a:prstGeom prst="rect">
            <a:avLst/>
          </a:prstGeom>
          <a:noFill/>
          <a:ln/>
        </p:spPr>
        <p:txBody>
          <a:bodyPr wrap="square" lIns="0" tIns="0" rIns="0" bIns="0" rtlCol="0" anchor="t"/>
          <a:lstStyle/>
          <a:p>
            <a:pPr indent="0" marL="0">
              <a:buNone/>
            </a:pPr>
            <a:r>
              <a:rPr lang="en-US" sz="1250" dirty="0">
                <a:solidFill>
                  <a:srgbClr val="BFCDD9"/>
                </a:solidFill>
                <a:latin typeface="Calibri" pitchFamily="34" charset="0"/>
                <a:ea typeface="Calibri" pitchFamily="34" charset="-122"/>
                <a:cs typeface="Calibri" pitchFamily="34" charset="-120"/>
              </a:rPr>
              <a:t>市販部品やオープンソースを積極活用し、膨れ上がる開発規模に対応する。</a:t>
            </a:r>
            <a:endParaRPr lang="en-US" sz="1250" dirty="0"/>
          </a:p>
        </p:txBody>
      </p:sp>
      <p:sp>
        <p:nvSpPr>
          <p:cNvPr id="22" name="Shape 17"/>
          <p:cNvSpPr/>
          <p:nvPr/>
        </p:nvSpPr>
        <p:spPr>
          <a:xfrm>
            <a:off x="6172200" y="3931920"/>
            <a:ext cx="5440680" cy="1463040"/>
          </a:xfrm>
          <a:prstGeom prst="roundRect">
            <a:avLst>
              <a:gd name="adj" fmla="val 5000"/>
            </a:avLst>
          </a:prstGeom>
          <a:solidFill>
            <a:srgbClr val="162232"/>
          </a:solidFill>
          <a:ln/>
          <a:effectLst>
            <a:outerShdw sx="100000" sy="100000" kx="0" ky="0" algn="bl" rotWithShape="0" blurRad="88900" dist="38100" dir="5400000">
              <a:srgbClr val="000000">
                <a:alpha val="13000"/>
              </a:srgbClr>
            </a:outerShdw>
          </a:effectLst>
        </p:spPr>
      </p:sp>
      <p:sp>
        <p:nvSpPr>
          <p:cNvPr id="23" name="Shape 18"/>
          <p:cNvSpPr/>
          <p:nvPr/>
        </p:nvSpPr>
        <p:spPr>
          <a:xfrm>
            <a:off x="6446520" y="4389120"/>
            <a:ext cx="603504" cy="603504"/>
          </a:xfrm>
          <a:prstGeom prst="ellipse">
            <a:avLst/>
          </a:prstGeom>
          <a:solidFill>
            <a:srgbClr val="0E9AA7"/>
          </a:solidFill>
          <a:ln/>
        </p:spPr>
      </p:sp>
      <p:pic>
        <p:nvPicPr>
          <p:cNvPr id="24" name="Image 3" descr="preencoded.png">    </p:cNvPr>
          <p:cNvPicPr>
            <a:picLocks noChangeAspect="1"/>
          </p:cNvPicPr>
          <p:nvPr/>
        </p:nvPicPr>
        <p:blipFill>
          <a:blip r:embed="rId4"/>
          <a:stretch>
            <a:fillRect/>
          </a:stretch>
        </p:blipFill>
        <p:spPr>
          <a:xfrm>
            <a:off x="6574536" y="4517136"/>
            <a:ext cx="347472" cy="347472"/>
          </a:xfrm>
          <a:prstGeom prst="rect">
            <a:avLst/>
          </a:prstGeom>
        </p:spPr>
      </p:pic>
      <p:sp>
        <p:nvSpPr>
          <p:cNvPr id="25" name="Text 19"/>
          <p:cNvSpPr/>
          <p:nvPr/>
        </p:nvSpPr>
        <p:spPr>
          <a:xfrm>
            <a:off x="7223760" y="4169664"/>
            <a:ext cx="4251960" cy="45720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安全性</a:t>
            </a:r>
            <a:endParaRPr lang="en-US" sz="1800" dirty="0"/>
          </a:p>
        </p:txBody>
      </p:sp>
      <p:sp>
        <p:nvSpPr>
          <p:cNvPr id="26" name="Text 20"/>
          <p:cNvSpPr/>
          <p:nvPr/>
        </p:nvSpPr>
        <p:spPr>
          <a:xfrm>
            <a:off x="7223760" y="4645152"/>
            <a:ext cx="4206240" cy="658368"/>
          </a:xfrm>
          <a:prstGeom prst="rect">
            <a:avLst/>
          </a:prstGeom>
          <a:noFill/>
          <a:ln/>
        </p:spPr>
        <p:txBody>
          <a:bodyPr wrap="square" lIns="0" tIns="0" rIns="0" bIns="0" rtlCol="0" anchor="t"/>
          <a:lstStyle/>
          <a:p>
            <a:pPr indent="0" marL="0">
              <a:buNone/>
            </a:pPr>
            <a:r>
              <a:rPr lang="en-US" sz="1250" dirty="0">
                <a:solidFill>
                  <a:srgbClr val="BFCDD9"/>
                </a:solidFill>
                <a:latin typeface="Calibri" pitchFamily="34" charset="0"/>
                <a:ea typeface="Calibri" pitchFamily="34" charset="-122"/>
                <a:cs typeface="Calibri" pitchFamily="34" charset="-120"/>
              </a:rPr>
              <a:t>サイバーセキュリティを含む広義の安全性に、高い水準で応える。</a:t>
            </a:r>
            <a:endParaRPr lang="en-US" sz="1250" dirty="0"/>
          </a:p>
        </p:txBody>
      </p:sp>
      <p:sp>
        <p:nvSpPr>
          <p:cNvPr id="27" name="Text 21"/>
          <p:cNvSpPr/>
          <p:nvPr/>
        </p:nvSpPr>
        <p:spPr>
          <a:xfrm>
            <a:off x="548640" y="5440680"/>
            <a:ext cx="11064240" cy="658368"/>
          </a:xfrm>
          <a:prstGeom prst="rect">
            <a:avLst/>
          </a:prstGeom>
          <a:solidFill>
            <a:srgbClr val="FBEBD5"/>
          </a:solidFill>
          <a:ln/>
        </p:spPr>
        <p:txBody>
          <a:bodyPr wrap="square" lIns="1524" tIns="1524" rIns="1524" bIns="1524" rtlCol="0" anchor="ctr"/>
          <a:lstStyle/>
          <a:p>
            <a:pPr indent="0" marL="0">
              <a:buNone/>
            </a:pPr>
            <a:r>
              <a:rPr lang="en-US" sz="1300" b="1" dirty="0">
                <a:solidFill>
                  <a:srgbClr val="E08A2B"/>
                </a:solidFill>
                <a:latin typeface="Calibri" pitchFamily="34" charset="0"/>
                <a:ea typeface="Calibri" pitchFamily="34" charset="-122"/>
                <a:cs typeface="Calibri" pitchFamily="34" charset="-120"/>
              </a:rPr>
              <a:t>補足  </a:t>
            </a:r>
            <a:pPr indent="0" marL="0">
              <a:buNone/>
            </a:pPr>
            <a:r>
              <a:rPr lang="en-US" sz="1300" dirty="0">
                <a:solidFill>
                  <a:srgbClr val="1B2A3A"/>
                </a:solidFill>
                <a:latin typeface="Calibri" pitchFamily="34" charset="0"/>
                <a:ea typeface="Calibri" pitchFamily="34" charset="-122"/>
                <a:cs typeface="Calibri" pitchFamily="34" charset="-120"/>
              </a:rPr>
              <a:t>CPはハードリアルタイム性・安全性を優先する設計のため、これら全てを同時に満たすのは難しい。そこで別の土台＝APが用意された。</a:t>
            </a:r>
            <a:endParaRPr lang="en-US" sz="1300" dirty="0"/>
          </a:p>
        </p:txBody>
      </p:sp>
      <p:sp>
        <p:nvSpPr>
          <p:cNvPr id="28" name="Text 22"/>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08</a:t>
            </a:r>
            <a:endParaRPr lang="en-US" sz="1100" dirty="0"/>
          </a:p>
        </p:txBody>
      </p:sp>
      <p:sp>
        <p:nvSpPr>
          <p:cNvPr id="29" name="Text 23"/>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09</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RELATIONSHIP</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置き換えではなく「適材適所」</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APはCPを廃止しない。両者は併存し、役割で使い分ける</a:t>
            </a:r>
            <a:endParaRPr lang="en-US" sz="1400" dirty="0"/>
          </a:p>
        </p:txBody>
      </p:sp>
      <p:sp>
        <p:nvSpPr>
          <p:cNvPr id="7" name="Shape 5"/>
          <p:cNvSpPr/>
          <p:nvPr/>
        </p:nvSpPr>
        <p:spPr>
          <a:xfrm>
            <a:off x="548640" y="2286000"/>
            <a:ext cx="11064240" cy="868680"/>
          </a:xfrm>
          <a:prstGeom prst="roundRect">
            <a:avLst>
              <a:gd name="adj" fmla="val 8421"/>
            </a:avLst>
          </a:prstGeom>
          <a:solidFill>
            <a:srgbClr val="D7EEF0"/>
          </a:solidFill>
          <a:ln/>
        </p:spPr>
      </p:sp>
      <p:sp>
        <p:nvSpPr>
          <p:cNvPr id="8" name="Text 6"/>
          <p:cNvSpPr/>
          <p:nvPr/>
        </p:nvSpPr>
        <p:spPr>
          <a:xfrm>
            <a:off x="777240" y="2286000"/>
            <a:ext cx="10607040" cy="868680"/>
          </a:xfrm>
          <a:prstGeom prst="rect">
            <a:avLst/>
          </a:prstGeom>
          <a:noFill/>
          <a:ln/>
        </p:spPr>
        <p:txBody>
          <a:bodyPr wrap="square" lIns="0" tIns="0" rIns="0" bIns="0" rtlCol="0" anchor="ctr"/>
          <a:lstStyle/>
          <a:p>
            <a:pPr indent="0" marL="0">
              <a:buNone/>
            </a:pPr>
            <a:r>
              <a:rPr lang="en-US" sz="1500" b="1" dirty="0">
                <a:solidFill>
                  <a:srgbClr val="0E9AA7"/>
                </a:solidFill>
                <a:latin typeface="Calibri" pitchFamily="34" charset="0"/>
                <a:ea typeface="Calibri" pitchFamily="34" charset="-122"/>
                <a:cs typeface="Calibri" pitchFamily="34" charset="-120"/>
              </a:rPr>
              <a:t>重要：  </a:t>
            </a:r>
            <a:pPr indent="0" marL="0">
              <a:buNone/>
            </a:pPr>
            <a:r>
              <a:rPr lang="en-US" sz="1500" dirty="0">
                <a:solidFill>
                  <a:srgbClr val="1B2A3A"/>
                </a:solidFill>
                <a:latin typeface="Calibri" pitchFamily="34" charset="0"/>
                <a:ea typeface="Calibri" pitchFamily="34" charset="-122"/>
                <a:cs typeface="Calibri" pitchFamily="34" charset="-120"/>
              </a:rPr>
              <a:t>Adaptive Platform は Classic Platform を置き換えるものではありません。性質の異なる二つの基盤が、同じ車の中で共存します。</a:t>
            </a:r>
            <a:endParaRPr lang="en-US" sz="1500" dirty="0"/>
          </a:p>
        </p:txBody>
      </p:sp>
      <p:sp>
        <p:nvSpPr>
          <p:cNvPr id="9" name="Shape 7"/>
          <p:cNvSpPr/>
          <p:nvPr/>
        </p:nvSpPr>
        <p:spPr>
          <a:xfrm>
            <a:off x="548640" y="3429000"/>
            <a:ext cx="5440680" cy="2331720"/>
          </a:xfrm>
          <a:prstGeom prst="roundRect">
            <a:avLst>
              <a:gd name="adj" fmla="val 3137"/>
            </a:avLst>
          </a:prstGeom>
          <a:solidFill>
            <a:srgbClr val="162232"/>
          </a:solidFill>
          <a:ln/>
          <a:effectLst>
            <a:outerShdw sx="100000" sy="100000" kx="0" ky="0" algn="bl" rotWithShape="0" blurRad="88900" dist="38100" dir="5400000">
              <a:srgbClr val="000000">
                <a:alpha val="13000"/>
              </a:srgbClr>
            </a:outerShdw>
          </a:effectLst>
        </p:spPr>
      </p:sp>
      <p:sp>
        <p:nvSpPr>
          <p:cNvPr id="10" name="Shape 8"/>
          <p:cNvSpPr/>
          <p:nvPr/>
        </p:nvSpPr>
        <p:spPr>
          <a:xfrm>
            <a:off x="868680" y="3703320"/>
            <a:ext cx="731520" cy="731520"/>
          </a:xfrm>
          <a:prstGeom prst="ellipse">
            <a:avLst/>
          </a:prstGeom>
          <a:solidFill>
            <a:srgbClr val="FFFFFF"/>
          </a:solidFill>
          <a:ln/>
        </p:spPr>
      </p:sp>
      <p:pic>
        <p:nvPicPr>
          <p:cNvPr id="11" name="Image 0" descr="preencoded.png">    </p:cNvPr>
          <p:cNvPicPr>
            <a:picLocks noChangeAspect="1"/>
          </p:cNvPicPr>
          <p:nvPr/>
        </p:nvPicPr>
        <p:blipFill>
          <a:blip r:embed="rId1"/>
          <a:stretch>
            <a:fillRect/>
          </a:stretch>
        </p:blipFill>
        <p:spPr>
          <a:xfrm>
            <a:off x="1024128" y="3858768"/>
            <a:ext cx="420624" cy="420624"/>
          </a:xfrm>
          <a:prstGeom prst="rect">
            <a:avLst/>
          </a:prstGeom>
        </p:spPr>
      </p:pic>
      <p:sp>
        <p:nvSpPr>
          <p:cNvPr id="12" name="Text 9"/>
          <p:cNvSpPr/>
          <p:nvPr/>
        </p:nvSpPr>
        <p:spPr>
          <a:xfrm>
            <a:off x="1783080" y="3703320"/>
            <a:ext cx="40233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Classic Platform</a:t>
            </a:r>
            <a:endParaRPr lang="en-US" sz="1800" dirty="0"/>
          </a:p>
        </p:txBody>
      </p:sp>
      <p:sp>
        <p:nvSpPr>
          <p:cNvPr id="13" name="Text 10"/>
          <p:cNvSpPr/>
          <p:nvPr/>
        </p:nvSpPr>
        <p:spPr>
          <a:xfrm>
            <a:off x="1783080" y="4114800"/>
            <a:ext cx="4023360" cy="365760"/>
          </a:xfrm>
          <a:prstGeom prst="rect">
            <a:avLst/>
          </a:prstGeom>
          <a:noFill/>
          <a:ln/>
        </p:spPr>
        <p:txBody>
          <a:bodyPr wrap="square" lIns="0" tIns="0" rIns="0" bIns="0" rtlCol="0" anchor="ctr"/>
          <a:lstStyle/>
          <a:p>
            <a:pPr indent="0" marL="0">
              <a:buNone/>
            </a:pPr>
            <a:r>
              <a:rPr lang="en-US" sz="1250" dirty="0">
                <a:solidFill>
                  <a:srgbClr val="E6EEF2"/>
                </a:solidFill>
                <a:latin typeface="Calibri" pitchFamily="34" charset="0"/>
                <a:ea typeface="Calibri" pitchFamily="34" charset="-122"/>
                <a:cs typeface="Calibri" pitchFamily="34" charset="-120"/>
              </a:rPr>
              <a:t>確実・堅実な制御の担い手</a:t>
            </a:r>
            <a:endParaRPr lang="en-US" sz="1250" dirty="0"/>
          </a:p>
        </p:txBody>
      </p:sp>
      <p:sp>
        <p:nvSpPr>
          <p:cNvPr id="14" name="Text 11"/>
          <p:cNvSpPr/>
          <p:nvPr/>
        </p:nvSpPr>
        <p:spPr>
          <a:xfrm>
            <a:off x="914400" y="4709160"/>
            <a:ext cx="475488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用途：エンジン制御、ブレーキ、ステアリング、ボディ系</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性格：止まらない・速い・安全（ハードリアルタイム）</a:t>
            </a:r>
            <a:endParaRPr lang="en-US" sz="1300" dirty="0"/>
          </a:p>
        </p:txBody>
      </p:sp>
      <p:sp>
        <p:nvSpPr>
          <p:cNvPr id="15" name="Shape 12"/>
          <p:cNvSpPr/>
          <p:nvPr/>
        </p:nvSpPr>
        <p:spPr>
          <a:xfrm>
            <a:off x="6172200" y="3429000"/>
            <a:ext cx="5440680" cy="2331720"/>
          </a:xfrm>
          <a:prstGeom prst="roundRect">
            <a:avLst>
              <a:gd name="adj" fmla="val 3137"/>
            </a:avLst>
          </a:prstGeom>
          <a:solidFill>
            <a:srgbClr val="0E9AA7"/>
          </a:solidFill>
          <a:ln/>
          <a:effectLst>
            <a:outerShdw sx="100000" sy="100000" kx="0" ky="0" algn="bl" rotWithShape="0" blurRad="88900" dist="38100" dir="5400000">
              <a:srgbClr val="000000">
                <a:alpha val="13000"/>
              </a:srgbClr>
            </a:outerShdw>
          </a:effectLst>
        </p:spPr>
      </p:sp>
      <p:sp>
        <p:nvSpPr>
          <p:cNvPr id="16" name="Shape 13"/>
          <p:cNvSpPr/>
          <p:nvPr/>
        </p:nvSpPr>
        <p:spPr>
          <a:xfrm>
            <a:off x="6492240" y="3703320"/>
            <a:ext cx="731520" cy="731520"/>
          </a:xfrm>
          <a:prstGeom prst="ellipse">
            <a:avLst/>
          </a:prstGeom>
          <a:solidFill>
            <a:srgbClr val="FFFFFF"/>
          </a:solidFill>
          <a:ln/>
        </p:spPr>
      </p:sp>
      <p:pic>
        <p:nvPicPr>
          <p:cNvPr id="17" name="Image 1" descr="preencoded.png">    </p:cNvPr>
          <p:cNvPicPr>
            <a:picLocks noChangeAspect="1"/>
          </p:cNvPicPr>
          <p:nvPr/>
        </p:nvPicPr>
        <p:blipFill>
          <a:blip r:embed="rId2"/>
          <a:stretch>
            <a:fillRect/>
          </a:stretch>
        </p:blipFill>
        <p:spPr>
          <a:xfrm>
            <a:off x="6647688" y="3858768"/>
            <a:ext cx="420624" cy="420624"/>
          </a:xfrm>
          <a:prstGeom prst="rect">
            <a:avLst/>
          </a:prstGeom>
        </p:spPr>
      </p:pic>
      <p:sp>
        <p:nvSpPr>
          <p:cNvPr id="18" name="Text 14"/>
          <p:cNvSpPr/>
          <p:nvPr/>
        </p:nvSpPr>
        <p:spPr>
          <a:xfrm>
            <a:off x="7406640" y="3703320"/>
            <a:ext cx="4023360" cy="41148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Adaptive Platform</a:t>
            </a:r>
            <a:endParaRPr lang="en-US" sz="1800" dirty="0"/>
          </a:p>
        </p:txBody>
      </p:sp>
      <p:sp>
        <p:nvSpPr>
          <p:cNvPr id="19" name="Text 15"/>
          <p:cNvSpPr/>
          <p:nvPr/>
        </p:nvSpPr>
        <p:spPr>
          <a:xfrm>
            <a:off x="7406640" y="4114800"/>
            <a:ext cx="4023360" cy="365760"/>
          </a:xfrm>
          <a:prstGeom prst="rect">
            <a:avLst/>
          </a:prstGeom>
          <a:noFill/>
          <a:ln/>
        </p:spPr>
        <p:txBody>
          <a:bodyPr wrap="square" lIns="0" tIns="0" rIns="0" bIns="0" rtlCol="0" anchor="ctr"/>
          <a:lstStyle/>
          <a:p>
            <a:pPr indent="0" marL="0">
              <a:buNone/>
            </a:pPr>
            <a:r>
              <a:rPr lang="en-US" sz="1250" dirty="0">
                <a:solidFill>
                  <a:srgbClr val="E6EEF2"/>
                </a:solidFill>
                <a:latin typeface="Calibri" pitchFamily="34" charset="0"/>
                <a:ea typeface="Calibri" pitchFamily="34" charset="-122"/>
                <a:cs typeface="Calibri" pitchFamily="34" charset="-120"/>
              </a:rPr>
              <a:t>高機能・大規模処理の担い手</a:t>
            </a:r>
            <a:endParaRPr lang="en-US" sz="1250" dirty="0"/>
          </a:p>
        </p:txBody>
      </p:sp>
      <p:sp>
        <p:nvSpPr>
          <p:cNvPr id="20" name="Text 16"/>
          <p:cNvSpPr/>
          <p:nvPr/>
        </p:nvSpPr>
        <p:spPr>
          <a:xfrm>
            <a:off x="6537960" y="4709160"/>
            <a:ext cx="4754880" cy="91440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用途：自動運転、センサ統合、車載HPC、ゲートウェイ</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性格：柔軟・高性能・つながる（動的・後から更新）</a:t>
            </a:r>
            <a:endParaRPr lang="en-US" sz="1300" dirty="0"/>
          </a:p>
        </p:txBody>
      </p:sp>
      <p:sp>
        <p:nvSpPr>
          <p:cNvPr id="21" name="Text 17"/>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09</a:t>
            </a:r>
            <a:endParaRPr lang="en-US" sz="1100" dirty="0"/>
          </a:p>
        </p:txBody>
      </p:sp>
      <p:sp>
        <p:nvSpPr>
          <p:cNvPr id="22" name="Text 18"/>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ARCHITECTURE</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Adaptive Platform のアーキテクチャ</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ARAという土台の上で、AAが独立プロセスとして動く</a:t>
            </a:r>
            <a:endParaRPr lang="en-US" sz="1400" dirty="0"/>
          </a:p>
        </p:txBody>
      </p:sp>
      <p:sp>
        <p:nvSpPr>
          <p:cNvPr id="7" name="Shape 5"/>
          <p:cNvSpPr/>
          <p:nvPr/>
        </p:nvSpPr>
        <p:spPr>
          <a:xfrm>
            <a:off x="640080" y="2331720"/>
            <a:ext cx="5029200" cy="868680"/>
          </a:xfrm>
          <a:prstGeom prst="roundRect">
            <a:avLst>
              <a:gd name="adj" fmla="val 6316"/>
            </a:avLst>
          </a:prstGeom>
          <a:solidFill>
            <a:srgbClr val="0E9AA7"/>
          </a:solidFill>
          <a:ln/>
          <a:effectLst>
            <a:outerShdw sx="100000" sy="100000" kx="0" ky="0" algn="bl" rotWithShape="0" blurRad="88900" dist="38100" dir="5400000">
              <a:srgbClr val="000000">
                <a:alpha val="13000"/>
              </a:srgbClr>
            </a:outerShdw>
          </a:effectLst>
        </p:spPr>
      </p:sp>
      <p:sp>
        <p:nvSpPr>
          <p:cNvPr id="8" name="Text 6"/>
          <p:cNvSpPr/>
          <p:nvPr/>
        </p:nvSpPr>
        <p:spPr>
          <a:xfrm>
            <a:off x="640080" y="2395728"/>
            <a:ext cx="5029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Adaptive Application（AA）</a:t>
            </a:r>
            <a:endParaRPr lang="en-US" sz="1500" dirty="0"/>
          </a:p>
        </p:txBody>
      </p:sp>
      <p:sp>
        <p:nvSpPr>
          <p:cNvPr id="9" name="Text 7"/>
          <p:cNvSpPr/>
          <p:nvPr/>
        </p:nvSpPr>
        <p:spPr>
          <a:xfrm>
            <a:off x="640080" y="2743200"/>
            <a:ext cx="5029200" cy="365760"/>
          </a:xfrm>
          <a:prstGeom prst="rect">
            <a:avLst/>
          </a:prstGeom>
          <a:noFill/>
          <a:ln/>
        </p:spPr>
        <p:txBody>
          <a:bodyPr wrap="square" lIns="0" tIns="0" rIns="0" bIns="0" rtlCol="0" anchor="ctr"/>
          <a:lstStyle/>
          <a:p>
            <a:pPr algn="ctr" indent="0" marL="0">
              <a:buNone/>
            </a:pPr>
            <a:r>
              <a:rPr lang="en-US" sz="1100" dirty="0">
                <a:solidFill>
                  <a:srgbClr val="EAF0F4"/>
                </a:solidFill>
                <a:latin typeface="Calibri" pitchFamily="34" charset="0"/>
                <a:ea typeface="Calibri" pitchFamily="34" charset="-122"/>
                <a:cs typeface="Calibri" pitchFamily="34" charset="-120"/>
              </a:rPr>
              <a:t>APのアプリ。各AAが独立プロセスとして動く</a:t>
            </a:r>
            <a:endParaRPr lang="en-US" sz="1100" dirty="0"/>
          </a:p>
        </p:txBody>
      </p:sp>
      <p:sp>
        <p:nvSpPr>
          <p:cNvPr id="10" name="Shape 8"/>
          <p:cNvSpPr/>
          <p:nvPr/>
        </p:nvSpPr>
        <p:spPr>
          <a:xfrm>
            <a:off x="640080" y="3337560"/>
            <a:ext cx="5029200" cy="960120"/>
          </a:xfrm>
          <a:prstGeom prst="roundRect">
            <a:avLst>
              <a:gd name="adj" fmla="val 5714"/>
            </a:avLst>
          </a:prstGeom>
          <a:solidFill>
            <a:srgbClr val="E08A2B"/>
          </a:solidFill>
          <a:ln/>
          <a:effectLst>
            <a:outerShdw sx="100000" sy="100000" kx="0" ky="0" algn="bl" rotWithShape="0" blurRad="88900" dist="38100" dir="5400000">
              <a:srgbClr val="000000">
                <a:alpha val="13000"/>
              </a:srgbClr>
            </a:outerShdw>
          </a:effectLst>
        </p:spPr>
      </p:sp>
      <p:sp>
        <p:nvSpPr>
          <p:cNvPr id="11" name="Text 9"/>
          <p:cNvSpPr/>
          <p:nvPr/>
        </p:nvSpPr>
        <p:spPr>
          <a:xfrm>
            <a:off x="640080" y="3401568"/>
            <a:ext cx="502920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ARA</a:t>
            </a:r>
            <a:endParaRPr lang="en-US" sz="1500" dirty="0"/>
          </a:p>
        </p:txBody>
      </p:sp>
      <p:sp>
        <p:nvSpPr>
          <p:cNvPr id="12" name="Text 10"/>
          <p:cNvSpPr/>
          <p:nvPr/>
        </p:nvSpPr>
        <p:spPr>
          <a:xfrm>
            <a:off x="640080" y="3749040"/>
            <a:ext cx="5029200" cy="320040"/>
          </a:xfrm>
          <a:prstGeom prst="rect">
            <a:avLst/>
          </a:prstGeom>
          <a:noFill/>
          <a:ln/>
        </p:spPr>
        <p:txBody>
          <a:bodyPr wrap="square" lIns="0" tIns="0" rIns="0" bIns="0" rtlCol="0" anchor="ctr"/>
          <a:lstStyle/>
          <a:p>
            <a:pPr algn="ctr" indent="0" marL="0">
              <a:buNone/>
            </a:pPr>
            <a:r>
              <a:rPr lang="en-US" sz="1050" dirty="0">
                <a:solidFill>
                  <a:srgbClr val="FFF3E2"/>
                </a:solidFill>
                <a:latin typeface="Calibri" pitchFamily="34" charset="0"/>
                <a:ea typeface="Calibri" pitchFamily="34" charset="-122"/>
                <a:cs typeface="Calibri" pitchFamily="34" charset="-120"/>
              </a:rPr>
              <a:t>AUTOSAR Runtime for Adaptive Applications</a:t>
            </a:r>
            <a:endParaRPr lang="en-US" sz="1050" dirty="0"/>
          </a:p>
        </p:txBody>
      </p:sp>
      <p:sp>
        <p:nvSpPr>
          <p:cNvPr id="13" name="Text 11"/>
          <p:cNvSpPr/>
          <p:nvPr/>
        </p:nvSpPr>
        <p:spPr>
          <a:xfrm>
            <a:off x="640080" y="4023360"/>
            <a:ext cx="5029200" cy="274320"/>
          </a:xfrm>
          <a:prstGeom prst="rect">
            <a:avLst/>
          </a:prstGeom>
          <a:noFill/>
          <a:ln/>
        </p:spPr>
        <p:txBody>
          <a:bodyPr wrap="square" lIns="0" tIns="0" rIns="0" bIns="0" rtlCol="0" anchor="ctr"/>
          <a:lstStyle/>
          <a:p>
            <a:pPr algn="ctr" indent="0" marL="0">
              <a:buNone/>
            </a:pPr>
            <a:r>
              <a:rPr lang="en-US" sz="1050" dirty="0">
                <a:solidFill>
                  <a:srgbClr val="FFF3E2"/>
                </a:solidFill>
                <a:latin typeface="Calibri" pitchFamily="34" charset="0"/>
                <a:ea typeface="Calibri" pitchFamily="34" charset="-122"/>
                <a:cs typeface="Calibri" pitchFamily="34" charset="-120"/>
              </a:rPr>
              <a:t>C++インタフェースで上のAAへ機能を提供</a:t>
            </a:r>
            <a:endParaRPr lang="en-US" sz="1050" dirty="0"/>
          </a:p>
        </p:txBody>
      </p:sp>
      <p:sp>
        <p:nvSpPr>
          <p:cNvPr id="14" name="Shape 12"/>
          <p:cNvSpPr/>
          <p:nvPr/>
        </p:nvSpPr>
        <p:spPr>
          <a:xfrm>
            <a:off x="640080" y="4434840"/>
            <a:ext cx="5029200" cy="777240"/>
          </a:xfrm>
          <a:prstGeom prst="roundRect">
            <a:avLst>
              <a:gd name="adj" fmla="val 7059"/>
            </a:avLst>
          </a:prstGeom>
          <a:solidFill>
            <a:srgbClr val="162232"/>
          </a:solidFill>
          <a:ln/>
          <a:effectLst>
            <a:outerShdw sx="100000" sy="100000" kx="0" ky="0" algn="bl" rotWithShape="0" blurRad="88900" dist="38100" dir="5400000">
              <a:srgbClr val="000000">
                <a:alpha val="13000"/>
              </a:srgbClr>
            </a:outerShdw>
          </a:effectLst>
        </p:spPr>
      </p:sp>
      <p:sp>
        <p:nvSpPr>
          <p:cNvPr id="15" name="Text 13"/>
          <p:cNvSpPr/>
          <p:nvPr/>
        </p:nvSpPr>
        <p:spPr>
          <a:xfrm>
            <a:off x="640080" y="4526280"/>
            <a:ext cx="502920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OS（POSIXベース）</a:t>
            </a:r>
            <a:endParaRPr lang="en-US" sz="1400" dirty="0"/>
          </a:p>
        </p:txBody>
      </p:sp>
      <p:sp>
        <p:nvSpPr>
          <p:cNvPr id="16" name="Shape 14"/>
          <p:cNvSpPr/>
          <p:nvPr/>
        </p:nvSpPr>
        <p:spPr>
          <a:xfrm>
            <a:off x="1097280" y="5349240"/>
            <a:ext cx="4114800" cy="502920"/>
          </a:xfrm>
          <a:prstGeom prst="rect">
            <a:avLst/>
          </a:prstGeom>
          <a:solidFill>
            <a:srgbClr val="EAEFF3"/>
          </a:solidFill>
          <a:ln/>
        </p:spPr>
      </p:sp>
      <p:sp>
        <p:nvSpPr>
          <p:cNvPr id="17" name="Text 15"/>
          <p:cNvSpPr/>
          <p:nvPr/>
        </p:nvSpPr>
        <p:spPr>
          <a:xfrm>
            <a:off x="1097280" y="5349240"/>
            <a:ext cx="4114800" cy="502920"/>
          </a:xfrm>
          <a:prstGeom prst="rect">
            <a:avLst/>
          </a:prstGeom>
          <a:noFill/>
          <a:ln/>
        </p:spPr>
        <p:txBody>
          <a:bodyPr wrap="square" lIns="0" tIns="0" rIns="0" bIns="0" rtlCol="0" anchor="ctr"/>
          <a:lstStyle/>
          <a:p>
            <a:pPr algn="ctr" indent="0" marL="0">
              <a:buNone/>
            </a:pPr>
            <a:r>
              <a:rPr lang="en-US" sz="1200" b="1" dirty="0">
                <a:solidFill>
                  <a:srgbClr val="5C6B7A"/>
                </a:solidFill>
                <a:latin typeface="Calibri" pitchFamily="34" charset="0"/>
                <a:ea typeface="Calibri" pitchFamily="34" charset="-122"/>
                <a:cs typeface="Calibri" pitchFamily="34" charset="-120"/>
              </a:rPr>
              <a:t>Machine（実プロセッサ／仮想マシン）</a:t>
            </a:r>
            <a:endParaRPr lang="en-US" sz="1200" dirty="0"/>
          </a:p>
        </p:txBody>
      </p:sp>
      <p:pic>
        <p:nvPicPr>
          <p:cNvPr id="18" name="Image 0" descr="preencoded.png">    </p:cNvPr>
          <p:cNvPicPr>
            <a:picLocks noChangeAspect="1"/>
          </p:cNvPicPr>
          <p:nvPr/>
        </p:nvPicPr>
        <p:blipFill>
          <a:blip r:embed="rId1"/>
          <a:stretch>
            <a:fillRect/>
          </a:stretch>
        </p:blipFill>
        <p:spPr>
          <a:xfrm>
            <a:off x="5989320" y="2368296"/>
            <a:ext cx="274320" cy="274320"/>
          </a:xfrm>
          <a:prstGeom prst="rect">
            <a:avLst/>
          </a:prstGeom>
        </p:spPr>
      </p:pic>
      <p:sp>
        <p:nvSpPr>
          <p:cNvPr id="19" name="Text 16"/>
          <p:cNvSpPr/>
          <p:nvPr/>
        </p:nvSpPr>
        <p:spPr>
          <a:xfrm>
            <a:off x="6373368" y="2331720"/>
            <a:ext cx="5239512" cy="640080"/>
          </a:xfrm>
          <a:prstGeom prst="rect">
            <a:avLst/>
          </a:prstGeom>
          <a:noFill/>
          <a:ln/>
        </p:spPr>
        <p:txBody>
          <a:bodyPr wrap="square" lIns="0" tIns="0" rIns="0" bIns="0" rtlCol="0" anchor="t"/>
          <a:lstStyle/>
          <a:p>
            <a:pPr indent="0" marL="0">
              <a:buNone/>
            </a:pPr>
            <a:r>
              <a:rPr lang="en-US" sz="1250" b="1" dirty="0">
                <a:solidFill>
                  <a:srgbClr val="1B2A3A"/>
                </a:solidFill>
                <a:latin typeface="Calibri" pitchFamily="34" charset="0"/>
                <a:ea typeface="Calibri" pitchFamily="34" charset="-122"/>
                <a:cs typeface="Calibri" pitchFamily="34" charset="-120"/>
              </a:rPr>
              <a:t>CPと層の作りが違う  </a:t>
            </a:r>
            <a:pPr indent="0" marL="0">
              <a:buNone/>
            </a:pPr>
            <a:r>
              <a:rPr lang="en-US" sz="1250" dirty="0">
                <a:solidFill>
                  <a:srgbClr val="5C6B7A"/>
                </a:solidFill>
                <a:latin typeface="Calibri" pitchFamily="34" charset="0"/>
                <a:ea typeface="Calibri" pitchFamily="34" charset="-122"/>
                <a:cs typeface="Calibri" pitchFamily="34" charset="-120"/>
              </a:rPr>
              <a:t>— CPは BSW/RTE/App の3層。APは ARA の上に AA が載る形。</a:t>
            </a:r>
            <a:endParaRPr lang="en-US" sz="1250" dirty="0"/>
          </a:p>
        </p:txBody>
      </p:sp>
      <p:pic>
        <p:nvPicPr>
          <p:cNvPr id="20" name="Image 1" descr="preencoded.png">    </p:cNvPr>
          <p:cNvPicPr>
            <a:picLocks noChangeAspect="1"/>
          </p:cNvPicPr>
          <p:nvPr/>
        </p:nvPicPr>
        <p:blipFill>
          <a:blip r:embed="rId2"/>
          <a:stretch>
            <a:fillRect/>
          </a:stretch>
        </p:blipFill>
        <p:spPr>
          <a:xfrm>
            <a:off x="5989320" y="3081528"/>
            <a:ext cx="274320" cy="274320"/>
          </a:xfrm>
          <a:prstGeom prst="rect">
            <a:avLst/>
          </a:prstGeom>
        </p:spPr>
      </p:pic>
      <p:sp>
        <p:nvSpPr>
          <p:cNvPr id="21" name="Text 17"/>
          <p:cNvSpPr/>
          <p:nvPr/>
        </p:nvSpPr>
        <p:spPr>
          <a:xfrm>
            <a:off x="6373368" y="3044952"/>
            <a:ext cx="5239512" cy="640080"/>
          </a:xfrm>
          <a:prstGeom prst="rect">
            <a:avLst/>
          </a:prstGeom>
          <a:noFill/>
          <a:ln/>
        </p:spPr>
        <p:txBody>
          <a:bodyPr wrap="square" lIns="0" tIns="0" rIns="0" bIns="0" rtlCol="0" anchor="t"/>
          <a:lstStyle/>
          <a:p>
            <a:pPr indent="0" marL="0">
              <a:buNone/>
            </a:pPr>
            <a:r>
              <a:rPr lang="en-US" sz="1250" b="1" dirty="0">
                <a:solidFill>
                  <a:srgbClr val="1B2A3A"/>
                </a:solidFill>
                <a:latin typeface="Calibri" pitchFamily="34" charset="0"/>
                <a:ea typeface="Calibri" pitchFamily="34" charset="-122"/>
                <a:cs typeface="Calibri" pitchFamily="34" charset="-120"/>
              </a:rPr>
              <a:t>POSIXベースのOS  </a:t>
            </a:r>
            <a:pPr indent="0" marL="0">
              <a:buNone/>
            </a:pPr>
            <a:r>
              <a:rPr lang="en-US" sz="1250" dirty="0">
                <a:solidFill>
                  <a:srgbClr val="5C6B7A"/>
                </a:solidFill>
                <a:latin typeface="Calibri" pitchFamily="34" charset="0"/>
                <a:ea typeface="Calibri" pitchFamily="34" charset="-122"/>
                <a:cs typeface="Calibri" pitchFamily="34" charset="-120"/>
              </a:rPr>
              <a:t>— 汎用OSに近い動的な土台。Linux/QNX系の世界観に近い。</a:t>
            </a:r>
            <a:endParaRPr lang="en-US" sz="1250" dirty="0"/>
          </a:p>
        </p:txBody>
      </p:sp>
      <p:pic>
        <p:nvPicPr>
          <p:cNvPr id="22" name="Image 2" descr="preencoded.png">    </p:cNvPr>
          <p:cNvPicPr>
            <a:picLocks noChangeAspect="1"/>
          </p:cNvPicPr>
          <p:nvPr/>
        </p:nvPicPr>
        <p:blipFill>
          <a:blip r:embed="rId3"/>
          <a:stretch>
            <a:fillRect/>
          </a:stretch>
        </p:blipFill>
        <p:spPr>
          <a:xfrm>
            <a:off x="5989320" y="3794760"/>
            <a:ext cx="274320" cy="274320"/>
          </a:xfrm>
          <a:prstGeom prst="rect">
            <a:avLst/>
          </a:prstGeom>
        </p:spPr>
      </p:pic>
      <p:sp>
        <p:nvSpPr>
          <p:cNvPr id="23" name="Text 18"/>
          <p:cNvSpPr/>
          <p:nvPr/>
        </p:nvSpPr>
        <p:spPr>
          <a:xfrm>
            <a:off x="6373368" y="3758184"/>
            <a:ext cx="5239512" cy="640080"/>
          </a:xfrm>
          <a:prstGeom prst="rect">
            <a:avLst/>
          </a:prstGeom>
          <a:noFill/>
          <a:ln/>
        </p:spPr>
        <p:txBody>
          <a:bodyPr wrap="square" lIns="0" tIns="0" rIns="0" bIns="0" rtlCol="0" anchor="t"/>
          <a:lstStyle/>
          <a:p>
            <a:pPr indent="0" marL="0">
              <a:buNone/>
            </a:pPr>
            <a:r>
              <a:rPr lang="en-US" sz="1250" b="1" dirty="0">
                <a:solidFill>
                  <a:srgbClr val="1B2A3A"/>
                </a:solidFill>
                <a:latin typeface="Calibri" pitchFamily="34" charset="0"/>
                <a:ea typeface="Calibri" pitchFamily="34" charset="-122"/>
                <a:cs typeface="Calibri" pitchFamily="34" charset="-120"/>
              </a:rPr>
              <a:t>言語は C++  </a:t>
            </a:r>
            <a:pPr indent="0" marL="0">
              <a:buNone/>
            </a:pPr>
            <a:r>
              <a:rPr lang="en-US" sz="1250" dirty="0">
                <a:solidFill>
                  <a:srgbClr val="5C6B7A"/>
                </a:solidFill>
                <a:latin typeface="Calibri" pitchFamily="34" charset="0"/>
                <a:ea typeface="Calibri" pitchFamily="34" charset="-122"/>
                <a:cs typeface="Calibri" pitchFamily="34" charset="-120"/>
              </a:rPr>
              <a:t>— インタフェースはC++で定義。CPのSW-Cはそのまま流用できない。</a:t>
            </a:r>
            <a:endParaRPr lang="en-US" sz="1250" dirty="0"/>
          </a:p>
        </p:txBody>
      </p:sp>
      <p:pic>
        <p:nvPicPr>
          <p:cNvPr id="24" name="Image 3" descr="preencoded.png">    </p:cNvPr>
          <p:cNvPicPr>
            <a:picLocks noChangeAspect="1"/>
          </p:cNvPicPr>
          <p:nvPr/>
        </p:nvPicPr>
        <p:blipFill>
          <a:blip r:embed="rId4"/>
          <a:stretch>
            <a:fillRect/>
          </a:stretch>
        </p:blipFill>
        <p:spPr>
          <a:xfrm>
            <a:off x="5989320" y="4507992"/>
            <a:ext cx="274320" cy="274320"/>
          </a:xfrm>
          <a:prstGeom prst="rect">
            <a:avLst/>
          </a:prstGeom>
        </p:spPr>
      </p:pic>
      <p:sp>
        <p:nvSpPr>
          <p:cNvPr id="25" name="Text 19"/>
          <p:cNvSpPr/>
          <p:nvPr/>
        </p:nvSpPr>
        <p:spPr>
          <a:xfrm>
            <a:off x="6373368" y="4471416"/>
            <a:ext cx="5239512" cy="640080"/>
          </a:xfrm>
          <a:prstGeom prst="rect">
            <a:avLst/>
          </a:prstGeom>
          <a:noFill/>
          <a:ln/>
        </p:spPr>
        <p:txBody>
          <a:bodyPr wrap="square" lIns="0" tIns="0" rIns="0" bIns="0" rtlCol="0" anchor="t"/>
          <a:lstStyle/>
          <a:p>
            <a:pPr indent="0" marL="0">
              <a:buNone/>
            </a:pPr>
            <a:r>
              <a:rPr lang="en-US" sz="1250" b="1" dirty="0">
                <a:solidFill>
                  <a:srgbClr val="1B2A3A"/>
                </a:solidFill>
                <a:latin typeface="Calibri" pitchFamily="34" charset="0"/>
                <a:ea typeface="Calibri" pitchFamily="34" charset="-122"/>
                <a:cs typeface="Calibri" pitchFamily="34" charset="-120"/>
              </a:rPr>
              <a:t>各AAは独立プロセス  </a:t>
            </a:r>
            <a:pPr indent="0" marL="0">
              <a:buNone/>
            </a:pPr>
            <a:r>
              <a:rPr lang="en-US" sz="1250" dirty="0">
                <a:solidFill>
                  <a:srgbClr val="5C6B7A"/>
                </a:solidFill>
                <a:latin typeface="Calibri" pitchFamily="34" charset="0"/>
                <a:ea typeface="Calibri" pitchFamily="34" charset="-122"/>
                <a:cs typeface="Calibri" pitchFamily="34" charset="-120"/>
              </a:rPr>
              <a:t>— メモリ空間・名前空間が分離。一つが落ちても波及しにくい。</a:t>
            </a:r>
            <a:endParaRPr lang="en-US" sz="1250" dirty="0"/>
          </a:p>
        </p:txBody>
      </p:sp>
      <p:pic>
        <p:nvPicPr>
          <p:cNvPr id="26" name="Image 4" descr="preencoded.png">    </p:cNvPr>
          <p:cNvPicPr>
            <a:picLocks noChangeAspect="1"/>
          </p:cNvPicPr>
          <p:nvPr/>
        </p:nvPicPr>
        <p:blipFill>
          <a:blip r:embed="rId5"/>
          <a:stretch>
            <a:fillRect/>
          </a:stretch>
        </p:blipFill>
        <p:spPr>
          <a:xfrm>
            <a:off x="5989320" y="5221224"/>
            <a:ext cx="274320" cy="274320"/>
          </a:xfrm>
          <a:prstGeom prst="rect">
            <a:avLst/>
          </a:prstGeom>
        </p:spPr>
      </p:pic>
      <p:sp>
        <p:nvSpPr>
          <p:cNvPr id="27" name="Text 20"/>
          <p:cNvSpPr/>
          <p:nvPr/>
        </p:nvSpPr>
        <p:spPr>
          <a:xfrm>
            <a:off x="6373368" y="5184648"/>
            <a:ext cx="5239512" cy="640080"/>
          </a:xfrm>
          <a:prstGeom prst="rect">
            <a:avLst/>
          </a:prstGeom>
          <a:noFill/>
          <a:ln/>
        </p:spPr>
        <p:txBody>
          <a:bodyPr wrap="square" lIns="0" tIns="0" rIns="0" bIns="0" rtlCol="0" anchor="t"/>
          <a:lstStyle/>
          <a:p>
            <a:pPr indent="0" marL="0">
              <a:buNone/>
            </a:pPr>
            <a:r>
              <a:rPr lang="en-US" sz="1250" b="1" dirty="0">
                <a:solidFill>
                  <a:srgbClr val="1B2A3A"/>
                </a:solidFill>
                <a:latin typeface="Calibri" pitchFamily="34" charset="0"/>
                <a:ea typeface="Calibri" pitchFamily="34" charset="-122"/>
                <a:cs typeface="Calibri" pitchFamily="34" charset="-120"/>
              </a:rPr>
              <a:t>Machineは仮想でも可  </a:t>
            </a:r>
            <a:pPr indent="0" marL="0">
              <a:buNone/>
            </a:pPr>
            <a:r>
              <a:rPr lang="en-US" sz="1250" dirty="0">
                <a:solidFill>
                  <a:srgbClr val="5C6B7A"/>
                </a:solidFill>
                <a:latin typeface="Calibri" pitchFamily="34" charset="0"/>
                <a:ea typeface="Calibri" pitchFamily="34" charset="-122"/>
                <a:cs typeface="Calibri" pitchFamily="34" charset="-120"/>
              </a:rPr>
              <a:t>— 実プロセッサのほか、ハイパーバイザ上の仮想マシンでも動く。</a:t>
            </a:r>
            <a:endParaRPr lang="en-US" sz="1250" dirty="0"/>
          </a:p>
        </p:txBody>
      </p:sp>
      <p:sp>
        <p:nvSpPr>
          <p:cNvPr id="28" name="Text 21"/>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10</a:t>
            </a:r>
            <a:endParaRPr lang="en-US" sz="1100" dirty="0"/>
          </a:p>
        </p:txBody>
      </p:sp>
      <p:sp>
        <p:nvSpPr>
          <p:cNvPr id="29" name="Text 22"/>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11</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INSIDE ARA</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ARAの中身：16のFunctional Cluster</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機能のまとまり（FC）が、大きく2つのグループに分かれる</a:t>
            </a:r>
            <a:endParaRPr lang="en-US" sz="1400" dirty="0"/>
          </a:p>
        </p:txBody>
      </p:sp>
      <p:sp>
        <p:nvSpPr>
          <p:cNvPr id="7" name="Shape 5"/>
          <p:cNvSpPr/>
          <p:nvPr/>
        </p:nvSpPr>
        <p:spPr>
          <a:xfrm>
            <a:off x="548640" y="2286000"/>
            <a:ext cx="5440680" cy="3200400"/>
          </a:xfrm>
          <a:prstGeom prst="roundRect">
            <a:avLst>
              <a:gd name="adj" fmla="val 2286"/>
            </a:avLst>
          </a:prstGeom>
          <a:solidFill>
            <a:srgbClr val="F4F6F8"/>
          </a:solidFill>
          <a:ln/>
          <a:effectLst>
            <a:outerShdw sx="100000" sy="100000" kx="0" ky="0" algn="bl" rotWithShape="0" blurRad="88900" dist="38100" dir="5400000">
              <a:srgbClr val="000000">
                <a:alpha val="13000"/>
              </a:srgbClr>
            </a:outerShdw>
          </a:effectLst>
        </p:spPr>
      </p:sp>
      <p:sp>
        <p:nvSpPr>
          <p:cNvPr id="8" name="Shape 6"/>
          <p:cNvSpPr/>
          <p:nvPr/>
        </p:nvSpPr>
        <p:spPr>
          <a:xfrm>
            <a:off x="822960" y="2560320"/>
            <a:ext cx="603504" cy="603504"/>
          </a:xfrm>
          <a:prstGeom prst="ellipse">
            <a:avLst/>
          </a:prstGeom>
          <a:solidFill>
            <a:srgbClr val="D7EEF0"/>
          </a:solidFill>
          <a:ln/>
        </p:spPr>
      </p:sp>
      <p:pic>
        <p:nvPicPr>
          <p:cNvPr id="9" name="Image 0" descr="preencoded.png">    </p:cNvPr>
          <p:cNvPicPr>
            <a:picLocks noChangeAspect="1"/>
          </p:cNvPicPr>
          <p:nvPr/>
        </p:nvPicPr>
        <p:blipFill>
          <a:blip r:embed="rId1"/>
          <a:stretch>
            <a:fillRect/>
          </a:stretch>
        </p:blipFill>
        <p:spPr>
          <a:xfrm>
            <a:off x="950976" y="2688336"/>
            <a:ext cx="347472" cy="347472"/>
          </a:xfrm>
          <a:prstGeom prst="rect">
            <a:avLst/>
          </a:prstGeom>
        </p:spPr>
      </p:pic>
      <p:sp>
        <p:nvSpPr>
          <p:cNvPr id="10" name="Text 7"/>
          <p:cNvSpPr/>
          <p:nvPr/>
        </p:nvSpPr>
        <p:spPr>
          <a:xfrm>
            <a:off x="1554480" y="2542032"/>
            <a:ext cx="4206240" cy="365760"/>
          </a:xfrm>
          <a:prstGeom prst="rect">
            <a:avLst/>
          </a:prstGeom>
          <a:noFill/>
          <a:ln/>
        </p:spPr>
        <p:txBody>
          <a:bodyPr wrap="square" lIns="0" tIns="0" rIns="0" bIns="0" rtlCol="0" anchor="ctr"/>
          <a:lstStyle/>
          <a:p>
            <a:pPr indent="0" marL="0">
              <a:buNone/>
            </a:pPr>
            <a:r>
              <a:rPr lang="en-US" sz="1700" b="1" dirty="0">
                <a:solidFill>
                  <a:srgbClr val="1B2A3A"/>
                </a:solidFill>
                <a:latin typeface="Calibri" pitchFamily="34" charset="0"/>
                <a:ea typeface="Calibri" pitchFamily="34" charset="-122"/>
                <a:cs typeface="Calibri" pitchFamily="34" charset="-120"/>
              </a:rPr>
              <a:t>AP Foundation</a:t>
            </a:r>
            <a:endParaRPr lang="en-US" sz="1700" dirty="0"/>
          </a:p>
        </p:txBody>
      </p:sp>
      <p:sp>
        <p:nvSpPr>
          <p:cNvPr id="11" name="Text 8"/>
          <p:cNvSpPr/>
          <p:nvPr/>
        </p:nvSpPr>
        <p:spPr>
          <a:xfrm>
            <a:off x="1554480" y="2889504"/>
            <a:ext cx="4206240" cy="310896"/>
          </a:xfrm>
          <a:prstGeom prst="rect">
            <a:avLst/>
          </a:prstGeom>
          <a:noFill/>
          <a:ln/>
        </p:spPr>
        <p:txBody>
          <a:bodyPr wrap="square" lIns="0" tIns="0" rIns="0" bIns="0" rtlCol="0" anchor="ctr"/>
          <a:lstStyle/>
          <a:p>
            <a:pPr indent="0" marL="0">
              <a:buNone/>
            </a:pPr>
            <a:r>
              <a:rPr lang="en-US" sz="1150" dirty="0">
                <a:solidFill>
                  <a:srgbClr val="0E9AA7"/>
                </a:solidFill>
                <a:latin typeface="Calibri" pitchFamily="34" charset="0"/>
                <a:ea typeface="Calibri" pitchFamily="34" charset="-122"/>
                <a:cs typeface="Calibri" pitchFamily="34" charset="-120"/>
              </a:rPr>
              <a:t>基盤グループ（Library-based）</a:t>
            </a:r>
            <a:endParaRPr lang="en-US" sz="1150" dirty="0"/>
          </a:p>
        </p:txBody>
      </p:sp>
      <p:sp>
        <p:nvSpPr>
          <p:cNvPr id="12" name="Text 9"/>
          <p:cNvSpPr/>
          <p:nvPr/>
        </p:nvSpPr>
        <p:spPr>
          <a:xfrm>
            <a:off x="868680" y="3383280"/>
            <a:ext cx="4846320" cy="1920240"/>
          </a:xfrm>
          <a:prstGeom prst="rect">
            <a:avLst/>
          </a:prstGeom>
          <a:noFill/>
          <a:ln/>
        </p:spPr>
        <p:txBody>
          <a:bodyPr wrap="square" lIns="0" tIns="0" rIns="0" bIns="0" rtlCol="0" anchor="t"/>
          <a:lstStyle/>
          <a:p>
            <a:pPr indent="0" marL="0">
              <a:buNone/>
            </a:pPr>
            <a:r>
              <a:rPr lang="en-US" sz="1300" dirty="0">
                <a:solidFill>
                  <a:srgbClr val="1B2A3A"/>
                </a:solidFill>
                <a:latin typeface="Calibri" pitchFamily="34" charset="0"/>
                <a:ea typeface="Calibri" pitchFamily="34" charset="-122"/>
                <a:cs typeface="Calibri" pitchFamily="34" charset="-120"/>
              </a:rPr>
              <a:t>APの基本機能を提供するライブラリ群。</a:t>
            </a:r>
            <a:endParaRPr lang="en-US" sz="1300" dirty="0"/>
          </a:p>
          <a:p>
            <a:pPr indent="0" marL="0">
              <a:buNone/>
            </a:pPr>
            <a:endParaRPr lang="en-US" sz="1300" dirty="0"/>
          </a:p>
          <a:p>
            <a:pPr indent="0" marL="0">
              <a:buNone/>
            </a:pPr>
            <a:r>
              <a:rPr lang="en-US" sz="1300" b="1" dirty="0">
                <a:solidFill>
                  <a:srgbClr val="5C6B7A"/>
                </a:solidFill>
                <a:latin typeface="Calibri" pitchFamily="34" charset="0"/>
                <a:ea typeface="Calibri" pitchFamily="34" charset="-122"/>
                <a:cs typeface="Calibri" pitchFamily="34" charset="-120"/>
              </a:rPr>
              <a:t>利用の仕方：</a:t>
            </a: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・手続き呼び出し（Procedure call）</a:t>
            </a:r>
            <a:endParaRPr lang="en-US" sz="1300" dirty="0"/>
          </a:p>
          <a:p>
            <a:pPr indent="0" marL="0">
              <a:buNone/>
            </a:pPr>
            <a:r>
              <a:rPr lang="en-US" sz="1300" dirty="0">
                <a:solidFill>
                  <a:srgbClr val="5C6B7A"/>
                </a:solidFill>
                <a:latin typeface="Calibri" pitchFamily="34" charset="0"/>
                <a:ea typeface="Calibri" pitchFamily="34" charset="-122"/>
                <a:cs typeface="Calibri" pitchFamily="34" charset="-120"/>
              </a:rPr>
              <a:t>・またはプロセス間通信（IPC）経由</a:t>
            </a:r>
            <a:endParaRPr lang="en-US" sz="1300" dirty="0"/>
          </a:p>
        </p:txBody>
      </p:sp>
      <p:sp>
        <p:nvSpPr>
          <p:cNvPr id="13" name="Shape 10"/>
          <p:cNvSpPr/>
          <p:nvPr/>
        </p:nvSpPr>
        <p:spPr>
          <a:xfrm>
            <a:off x="6172200" y="2286000"/>
            <a:ext cx="5440680" cy="3200400"/>
          </a:xfrm>
          <a:prstGeom prst="roundRect">
            <a:avLst>
              <a:gd name="adj" fmla="val 2286"/>
            </a:avLst>
          </a:prstGeom>
          <a:solidFill>
            <a:srgbClr val="162232"/>
          </a:solidFill>
          <a:ln/>
          <a:effectLst>
            <a:outerShdw sx="100000" sy="100000" kx="0" ky="0" algn="bl" rotWithShape="0" blurRad="88900" dist="38100" dir="5400000">
              <a:srgbClr val="000000">
                <a:alpha val="13000"/>
              </a:srgbClr>
            </a:outerShdw>
          </a:effectLst>
        </p:spPr>
      </p:sp>
      <p:sp>
        <p:nvSpPr>
          <p:cNvPr id="14" name="Shape 11"/>
          <p:cNvSpPr/>
          <p:nvPr/>
        </p:nvSpPr>
        <p:spPr>
          <a:xfrm>
            <a:off x="6446520" y="2560320"/>
            <a:ext cx="603504" cy="603504"/>
          </a:xfrm>
          <a:prstGeom prst="ellipse">
            <a:avLst/>
          </a:prstGeom>
          <a:solidFill>
            <a:srgbClr val="0E9AA7"/>
          </a:solidFill>
          <a:ln/>
        </p:spPr>
      </p:sp>
      <p:pic>
        <p:nvPicPr>
          <p:cNvPr id="15" name="Image 1" descr="preencoded.png">    </p:cNvPr>
          <p:cNvPicPr>
            <a:picLocks noChangeAspect="1"/>
          </p:cNvPicPr>
          <p:nvPr/>
        </p:nvPicPr>
        <p:blipFill>
          <a:blip r:embed="rId2"/>
          <a:stretch>
            <a:fillRect/>
          </a:stretch>
        </p:blipFill>
        <p:spPr>
          <a:xfrm>
            <a:off x="6574536" y="2688336"/>
            <a:ext cx="347472" cy="347472"/>
          </a:xfrm>
          <a:prstGeom prst="rect">
            <a:avLst/>
          </a:prstGeom>
        </p:spPr>
      </p:pic>
      <p:sp>
        <p:nvSpPr>
          <p:cNvPr id="16" name="Text 12"/>
          <p:cNvSpPr/>
          <p:nvPr/>
        </p:nvSpPr>
        <p:spPr>
          <a:xfrm>
            <a:off x="7178040" y="2542032"/>
            <a:ext cx="420624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AP Services</a:t>
            </a:r>
            <a:endParaRPr lang="en-US" sz="1700" dirty="0"/>
          </a:p>
        </p:txBody>
      </p:sp>
      <p:sp>
        <p:nvSpPr>
          <p:cNvPr id="17" name="Text 13"/>
          <p:cNvSpPr/>
          <p:nvPr/>
        </p:nvSpPr>
        <p:spPr>
          <a:xfrm>
            <a:off x="7178040" y="2889504"/>
            <a:ext cx="4206240" cy="310896"/>
          </a:xfrm>
          <a:prstGeom prst="rect">
            <a:avLst/>
          </a:prstGeom>
          <a:noFill/>
          <a:ln/>
        </p:spPr>
        <p:txBody>
          <a:bodyPr wrap="square" lIns="0" tIns="0" rIns="0" bIns="0" rtlCol="0" anchor="ctr"/>
          <a:lstStyle/>
          <a:p>
            <a:pPr indent="0" marL="0">
              <a:buNone/>
            </a:pPr>
            <a:r>
              <a:rPr lang="en-US" sz="1150" dirty="0">
                <a:solidFill>
                  <a:srgbClr val="E08A2B"/>
                </a:solidFill>
                <a:latin typeface="Calibri" pitchFamily="34" charset="0"/>
                <a:ea typeface="Calibri" pitchFamily="34" charset="-122"/>
                <a:cs typeface="Calibri" pitchFamily="34" charset="-120"/>
              </a:rPr>
              <a:t>サービスグループ（Service-based）</a:t>
            </a:r>
            <a:endParaRPr lang="en-US" sz="1150" dirty="0"/>
          </a:p>
        </p:txBody>
      </p:sp>
      <p:sp>
        <p:nvSpPr>
          <p:cNvPr id="18" name="Text 14"/>
          <p:cNvSpPr/>
          <p:nvPr/>
        </p:nvSpPr>
        <p:spPr>
          <a:xfrm>
            <a:off x="6492240" y="3383280"/>
            <a:ext cx="4846320" cy="1920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APにおける基本サービス群。</a:t>
            </a:r>
            <a:endParaRPr lang="en-US" sz="1300" dirty="0"/>
          </a:p>
          <a:p>
            <a:pPr indent="0" marL="0">
              <a:buNone/>
            </a:pPr>
            <a:endParaRPr lang="en-US" sz="1300" dirty="0"/>
          </a:p>
          <a:p>
            <a:pPr indent="0" marL="0">
              <a:buNone/>
            </a:pPr>
            <a:r>
              <a:rPr lang="en-US" sz="1300" b="1" dirty="0">
                <a:solidFill>
                  <a:srgbClr val="AEBECD"/>
                </a:solidFill>
                <a:latin typeface="Calibri" pitchFamily="34" charset="0"/>
                <a:ea typeface="Calibri" pitchFamily="34" charset="-122"/>
                <a:cs typeface="Calibri" pitchFamily="34" charset="-120"/>
              </a:rPr>
              <a:t>利用の仕方：</a:t>
            </a:r>
            <a:endParaRPr lang="en-US" sz="1300" dirty="0"/>
          </a:p>
          <a:p>
            <a:pPr indent="0" marL="0">
              <a:buNone/>
            </a:pPr>
            <a:r>
              <a:rPr lang="en-US" sz="1300" dirty="0">
                <a:solidFill>
                  <a:srgbClr val="AEBECD"/>
                </a:solidFill>
                <a:latin typeface="Calibri" pitchFamily="34" charset="0"/>
                <a:ea typeface="Calibri" pitchFamily="34" charset="-122"/>
                <a:cs typeface="Calibri" pitchFamily="34" charset="-120"/>
              </a:rPr>
              <a:t>・Communication Management（CM）経由</a:t>
            </a:r>
            <a:endParaRPr lang="en-US" sz="1300" dirty="0"/>
          </a:p>
          <a:p>
            <a:pPr indent="0" marL="0">
              <a:buNone/>
            </a:pPr>
            <a:r>
              <a:rPr lang="en-US" sz="1300" dirty="0">
                <a:solidFill>
                  <a:srgbClr val="AEBECD"/>
                </a:solidFill>
                <a:latin typeface="Calibri" pitchFamily="34" charset="0"/>
                <a:ea typeface="Calibri" pitchFamily="34" charset="-122"/>
                <a:cs typeface="Calibri" pitchFamily="34" charset="-120"/>
              </a:rPr>
              <a:t>・サービスとして提供／利用する</a:t>
            </a:r>
            <a:endParaRPr lang="en-US" sz="1300" dirty="0"/>
          </a:p>
        </p:txBody>
      </p:sp>
      <p:sp>
        <p:nvSpPr>
          <p:cNvPr id="19" name="Text 15"/>
          <p:cNvSpPr/>
          <p:nvPr/>
        </p:nvSpPr>
        <p:spPr>
          <a:xfrm>
            <a:off x="548640" y="5623560"/>
            <a:ext cx="11064240" cy="548640"/>
          </a:xfrm>
          <a:prstGeom prst="rect">
            <a:avLst/>
          </a:prstGeom>
          <a:solidFill>
            <a:srgbClr val="D7EEF0"/>
          </a:solidFill>
          <a:ln/>
        </p:spPr>
        <p:txBody>
          <a:bodyPr wrap="square" lIns="1270" tIns="1270" rIns="1270" bIns="1270" rtlCol="0" anchor="ctr"/>
          <a:lstStyle/>
          <a:p>
            <a:pPr indent="0" marL="0">
              <a:buNone/>
            </a:pPr>
            <a:r>
              <a:rPr lang="en-US" sz="1250" b="1" dirty="0">
                <a:solidFill>
                  <a:srgbClr val="0E9AA7"/>
                </a:solidFill>
                <a:latin typeface="Calibri" pitchFamily="34" charset="0"/>
                <a:ea typeface="Calibri" pitchFamily="34" charset="-122"/>
                <a:cs typeface="Calibri" pitchFamily="34" charset="-120"/>
              </a:rPr>
              <a:t>ポイント  </a:t>
            </a:r>
            <a:pPr indent="0" marL="0">
              <a:buNone/>
            </a:pPr>
            <a:r>
              <a:rPr lang="en-US" sz="1250" dirty="0">
                <a:solidFill>
                  <a:srgbClr val="1B2A3A"/>
                </a:solidFill>
                <a:latin typeface="Calibri" pitchFamily="34" charset="0"/>
                <a:ea typeface="Calibri" pitchFamily="34" charset="-122"/>
                <a:cs typeface="Calibri" pitchFamily="34" charset="-120"/>
              </a:rPr>
              <a:t>CPのように内部の階層構造を細かく定めるのではなく、「AAから使える機能・サービス」を規定する形をとる。</a:t>
            </a:r>
            <a:endParaRPr lang="en-US" sz="1250" dirty="0"/>
          </a:p>
        </p:txBody>
      </p:sp>
      <p:sp>
        <p:nvSpPr>
          <p:cNvPr id="20" name="Text 16"/>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11</a:t>
            </a:r>
            <a:endParaRPr lang="en-US" sz="1100" dirty="0"/>
          </a:p>
        </p:txBody>
      </p:sp>
      <p:sp>
        <p:nvSpPr>
          <p:cNvPr id="21" name="Text 17"/>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12</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SERVICE-ORIENTED</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サービス指向アーキテクチャ（SOA）</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AP通信の中核。提供者と利用者が動的に結びつく</a:t>
            </a:r>
            <a:endParaRPr lang="en-US" sz="1400" dirty="0"/>
          </a:p>
        </p:txBody>
      </p:sp>
      <p:sp>
        <p:nvSpPr>
          <p:cNvPr id="7" name="Shape 5"/>
          <p:cNvSpPr/>
          <p:nvPr/>
        </p:nvSpPr>
        <p:spPr>
          <a:xfrm>
            <a:off x="731520" y="2651760"/>
            <a:ext cx="3017520" cy="1188720"/>
          </a:xfrm>
          <a:prstGeom prst="roundRect">
            <a:avLst>
              <a:gd name="adj" fmla="val 6154"/>
            </a:avLst>
          </a:prstGeom>
          <a:solidFill>
            <a:srgbClr val="0E9AA7"/>
          </a:solidFill>
          <a:ln/>
          <a:effectLst>
            <a:outerShdw sx="100000" sy="100000" kx="0" ky="0" algn="bl" rotWithShape="0" blurRad="88900" dist="38100" dir="5400000">
              <a:srgbClr val="000000">
                <a:alpha val="13000"/>
              </a:srgbClr>
            </a:outerShdw>
          </a:effectLst>
        </p:spPr>
      </p:sp>
      <p:sp>
        <p:nvSpPr>
          <p:cNvPr id="8" name="Text 6"/>
          <p:cNvSpPr/>
          <p:nvPr/>
        </p:nvSpPr>
        <p:spPr>
          <a:xfrm>
            <a:off x="731520" y="2834640"/>
            <a:ext cx="3017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サービス提供者</a:t>
            </a:r>
            <a:endParaRPr lang="en-US" sz="1500" dirty="0"/>
          </a:p>
        </p:txBody>
      </p:sp>
      <p:sp>
        <p:nvSpPr>
          <p:cNvPr id="9" name="Text 7"/>
          <p:cNvSpPr/>
          <p:nvPr/>
        </p:nvSpPr>
        <p:spPr>
          <a:xfrm>
            <a:off x="731520" y="3218688"/>
            <a:ext cx="3017520" cy="365760"/>
          </a:xfrm>
          <a:prstGeom prst="rect">
            <a:avLst/>
          </a:prstGeom>
          <a:noFill/>
          <a:ln/>
        </p:spPr>
        <p:txBody>
          <a:bodyPr wrap="square" lIns="0" tIns="0" rIns="0" bIns="0" rtlCol="0" anchor="ctr"/>
          <a:lstStyle/>
          <a:p>
            <a:pPr algn="ctr" indent="0" marL="0">
              <a:buNone/>
            </a:pPr>
            <a:r>
              <a:rPr lang="en-US" sz="1100" dirty="0">
                <a:solidFill>
                  <a:srgbClr val="EAF0F4"/>
                </a:solidFill>
                <a:latin typeface="Calibri" pitchFamily="34" charset="0"/>
                <a:ea typeface="Calibri" pitchFamily="34" charset="-122"/>
                <a:cs typeface="Calibri" pitchFamily="34" charset="-120"/>
              </a:rPr>
              <a:t>（Server / Provider）</a:t>
            </a:r>
            <a:endParaRPr lang="en-US" sz="1100" dirty="0"/>
          </a:p>
        </p:txBody>
      </p:sp>
      <p:sp>
        <p:nvSpPr>
          <p:cNvPr id="10" name="Shape 8"/>
          <p:cNvSpPr/>
          <p:nvPr/>
        </p:nvSpPr>
        <p:spPr>
          <a:xfrm>
            <a:off x="4572000" y="2651760"/>
            <a:ext cx="3017520" cy="1188720"/>
          </a:xfrm>
          <a:prstGeom prst="roundRect">
            <a:avLst>
              <a:gd name="adj" fmla="val 6154"/>
            </a:avLst>
          </a:prstGeom>
          <a:solidFill>
            <a:srgbClr val="E08A2B"/>
          </a:solidFill>
          <a:ln/>
          <a:effectLst>
            <a:outerShdw sx="100000" sy="100000" kx="0" ky="0" algn="bl" rotWithShape="0" blurRad="88900" dist="38100" dir="5400000">
              <a:srgbClr val="000000">
                <a:alpha val="13000"/>
              </a:srgbClr>
            </a:outerShdw>
          </a:effectLst>
        </p:spPr>
      </p:sp>
      <p:sp>
        <p:nvSpPr>
          <p:cNvPr id="11" name="Text 9"/>
          <p:cNvSpPr/>
          <p:nvPr/>
        </p:nvSpPr>
        <p:spPr>
          <a:xfrm>
            <a:off x="4572000" y="2816352"/>
            <a:ext cx="3017520" cy="64008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Communication</a:t>
            </a:r>
            <a:endParaRPr lang="en-US" sz="1400" dirty="0"/>
          </a:p>
          <a:p>
            <a:pPr algn="ctr" indent="0" marL="0">
              <a:buNone/>
            </a:pPr>
            <a:r>
              <a:rPr lang="en-US" sz="1400" b="1" dirty="0">
                <a:solidFill>
                  <a:srgbClr val="FFFFFF"/>
                </a:solidFill>
                <a:latin typeface="Calibri" pitchFamily="34" charset="0"/>
                <a:ea typeface="Calibri" pitchFamily="34" charset="-122"/>
                <a:cs typeface="Calibri" pitchFamily="34" charset="-120"/>
              </a:rPr>
              <a:t>Management</a:t>
            </a:r>
            <a:endParaRPr lang="en-US" sz="1400" dirty="0"/>
          </a:p>
        </p:txBody>
      </p:sp>
      <p:sp>
        <p:nvSpPr>
          <p:cNvPr id="12" name="Text 10"/>
          <p:cNvSpPr/>
          <p:nvPr/>
        </p:nvSpPr>
        <p:spPr>
          <a:xfrm>
            <a:off x="4572000" y="3429000"/>
            <a:ext cx="3017520" cy="274320"/>
          </a:xfrm>
          <a:prstGeom prst="rect">
            <a:avLst/>
          </a:prstGeom>
          <a:noFill/>
          <a:ln/>
        </p:spPr>
        <p:txBody>
          <a:bodyPr wrap="square" lIns="0" tIns="0" rIns="0" bIns="0" rtlCol="0" anchor="ctr"/>
          <a:lstStyle/>
          <a:p>
            <a:pPr algn="ctr" indent="0" marL="0">
              <a:buNone/>
            </a:pPr>
            <a:r>
              <a:rPr lang="en-US" sz="1100" dirty="0">
                <a:solidFill>
                  <a:srgbClr val="FFF3E2"/>
                </a:solidFill>
                <a:latin typeface="Calibri" pitchFamily="34" charset="0"/>
                <a:ea typeface="Calibri" pitchFamily="34" charset="-122"/>
                <a:cs typeface="Calibri" pitchFamily="34" charset="-120"/>
              </a:rPr>
              <a:t>発見して仲介</a:t>
            </a:r>
            <a:endParaRPr lang="en-US" sz="1100" dirty="0"/>
          </a:p>
        </p:txBody>
      </p:sp>
      <p:sp>
        <p:nvSpPr>
          <p:cNvPr id="13" name="Shape 11"/>
          <p:cNvSpPr/>
          <p:nvPr/>
        </p:nvSpPr>
        <p:spPr>
          <a:xfrm>
            <a:off x="8412480" y="2651760"/>
            <a:ext cx="3017520" cy="1188720"/>
          </a:xfrm>
          <a:prstGeom prst="roundRect">
            <a:avLst>
              <a:gd name="adj" fmla="val 6154"/>
            </a:avLst>
          </a:prstGeom>
          <a:solidFill>
            <a:srgbClr val="162232"/>
          </a:solidFill>
          <a:ln/>
          <a:effectLst>
            <a:outerShdw sx="100000" sy="100000" kx="0" ky="0" algn="bl" rotWithShape="0" blurRad="88900" dist="38100" dir="5400000">
              <a:srgbClr val="000000">
                <a:alpha val="13000"/>
              </a:srgbClr>
            </a:outerShdw>
          </a:effectLst>
        </p:spPr>
      </p:sp>
      <p:sp>
        <p:nvSpPr>
          <p:cNvPr id="14" name="Text 12"/>
          <p:cNvSpPr/>
          <p:nvPr/>
        </p:nvSpPr>
        <p:spPr>
          <a:xfrm>
            <a:off x="8412480" y="2834640"/>
            <a:ext cx="3017520" cy="3657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サービス利用者</a:t>
            </a:r>
            <a:endParaRPr lang="en-US" sz="1500" dirty="0"/>
          </a:p>
        </p:txBody>
      </p:sp>
      <p:sp>
        <p:nvSpPr>
          <p:cNvPr id="15" name="Text 13"/>
          <p:cNvSpPr/>
          <p:nvPr/>
        </p:nvSpPr>
        <p:spPr>
          <a:xfrm>
            <a:off x="8412480" y="3218688"/>
            <a:ext cx="3017520" cy="365760"/>
          </a:xfrm>
          <a:prstGeom prst="rect">
            <a:avLst/>
          </a:prstGeom>
          <a:noFill/>
          <a:ln/>
        </p:spPr>
        <p:txBody>
          <a:bodyPr wrap="square" lIns="0" tIns="0" rIns="0" bIns="0" rtlCol="0" anchor="ctr"/>
          <a:lstStyle/>
          <a:p>
            <a:pPr algn="ctr" indent="0" marL="0">
              <a:buNone/>
            </a:pPr>
            <a:r>
              <a:rPr lang="en-US" sz="1100" dirty="0">
                <a:solidFill>
                  <a:srgbClr val="AEBECD"/>
                </a:solidFill>
                <a:latin typeface="Calibri" pitchFamily="34" charset="0"/>
                <a:ea typeface="Calibri" pitchFamily="34" charset="-122"/>
                <a:cs typeface="Calibri" pitchFamily="34" charset="-120"/>
              </a:rPr>
              <a:t>（Client / Consumer）</a:t>
            </a:r>
            <a:endParaRPr lang="en-US" sz="1100" dirty="0"/>
          </a:p>
        </p:txBody>
      </p:sp>
      <p:sp>
        <p:nvSpPr>
          <p:cNvPr id="16" name="Shape 14"/>
          <p:cNvSpPr/>
          <p:nvPr/>
        </p:nvSpPr>
        <p:spPr>
          <a:xfrm>
            <a:off x="3749040" y="3246120"/>
            <a:ext cx="822960" cy="0"/>
          </a:xfrm>
          <a:prstGeom prst="line">
            <a:avLst/>
          </a:prstGeom>
          <a:noFill/>
          <a:ln w="31750">
            <a:solidFill>
              <a:srgbClr val="5C6B7A"/>
            </a:solidFill>
            <a:prstDash val="solid"/>
            <a:tailEnd type="triangle"/>
          </a:ln>
        </p:spPr>
      </p:sp>
      <p:sp>
        <p:nvSpPr>
          <p:cNvPr id="17" name="Shape 15"/>
          <p:cNvSpPr/>
          <p:nvPr/>
        </p:nvSpPr>
        <p:spPr>
          <a:xfrm>
            <a:off x="7589520" y="3246120"/>
            <a:ext cx="822960" cy="0"/>
          </a:xfrm>
          <a:prstGeom prst="line">
            <a:avLst/>
          </a:prstGeom>
          <a:noFill/>
          <a:ln w="31750">
            <a:solidFill>
              <a:srgbClr val="5C6B7A"/>
            </a:solidFill>
            <a:prstDash val="solid"/>
            <a:tailEnd type="triangle"/>
          </a:ln>
        </p:spPr>
      </p:sp>
      <p:sp>
        <p:nvSpPr>
          <p:cNvPr id="18" name="Shape 16"/>
          <p:cNvSpPr/>
          <p:nvPr/>
        </p:nvSpPr>
        <p:spPr>
          <a:xfrm>
            <a:off x="548640" y="4206240"/>
            <a:ext cx="3593592" cy="1508760"/>
          </a:xfrm>
          <a:prstGeom prst="roundRect">
            <a:avLst>
              <a:gd name="adj" fmla="val 4242"/>
            </a:avLst>
          </a:prstGeom>
          <a:solidFill>
            <a:srgbClr val="F4F6F8"/>
          </a:solidFill>
          <a:ln/>
          <a:effectLst>
            <a:outerShdw sx="100000" sy="100000" kx="0" ky="0" algn="bl" rotWithShape="0" blurRad="88900" dist="38100" dir="5400000">
              <a:srgbClr val="000000">
                <a:alpha val="13000"/>
              </a:srgbClr>
            </a:outerShdw>
          </a:effectLst>
        </p:spPr>
      </p:sp>
      <p:sp>
        <p:nvSpPr>
          <p:cNvPr id="19" name="Shape 17"/>
          <p:cNvSpPr/>
          <p:nvPr/>
        </p:nvSpPr>
        <p:spPr>
          <a:xfrm>
            <a:off x="822960" y="4462272"/>
            <a:ext cx="502920" cy="502920"/>
          </a:xfrm>
          <a:prstGeom prst="ellipse">
            <a:avLst/>
          </a:prstGeom>
          <a:solidFill>
            <a:srgbClr val="D7EEF0"/>
          </a:solidFill>
          <a:ln/>
        </p:spPr>
      </p:sp>
      <p:pic>
        <p:nvPicPr>
          <p:cNvPr id="20" name="Image 0" descr="preencoded.png">    </p:cNvPr>
          <p:cNvPicPr>
            <a:picLocks noChangeAspect="1"/>
          </p:cNvPicPr>
          <p:nvPr/>
        </p:nvPicPr>
        <p:blipFill>
          <a:blip r:embed="rId1"/>
          <a:stretch>
            <a:fillRect/>
          </a:stretch>
        </p:blipFill>
        <p:spPr>
          <a:xfrm>
            <a:off x="932688" y="4572000"/>
            <a:ext cx="283464" cy="283464"/>
          </a:xfrm>
          <a:prstGeom prst="rect">
            <a:avLst/>
          </a:prstGeom>
        </p:spPr>
      </p:pic>
      <p:sp>
        <p:nvSpPr>
          <p:cNvPr id="21" name="Text 18"/>
          <p:cNvSpPr/>
          <p:nvPr/>
        </p:nvSpPr>
        <p:spPr>
          <a:xfrm>
            <a:off x="1463040" y="4462272"/>
            <a:ext cx="2496312" cy="50292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動的な結合</a:t>
            </a:r>
            <a:endParaRPr lang="en-US" sz="1450" dirty="0"/>
          </a:p>
        </p:txBody>
      </p:sp>
      <p:sp>
        <p:nvSpPr>
          <p:cNvPr id="22" name="Text 19"/>
          <p:cNvSpPr/>
          <p:nvPr/>
        </p:nvSpPr>
        <p:spPr>
          <a:xfrm>
            <a:off x="841248" y="5074920"/>
            <a:ext cx="3026664"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実行時にサービスを発見（service discovery）して接続。固定配線ではない。</a:t>
            </a:r>
            <a:endParaRPr lang="en-US" sz="1150" dirty="0"/>
          </a:p>
        </p:txBody>
      </p:sp>
      <p:sp>
        <p:nvSpPr>
          <p:cNvPr id="23" name="Shape 20"/>
          <p:cNvSpPr/>
          <p:nvPr/>
        </p:nvSpPr>
        <p:spPr>
          <a:xfrm>
            <a:off x="4288536" y="4206240"/>
            <a:ext cx="3593592" cy="1508760"/>
          </a:xfrm>
          <a:prstGeom prst="roundRect">
            <a:avLst>
              <a:gd name="adj" fmla="val 4242"/>
            </a:avLst>
          </a:prstGeom>
          <a:solidFill>
            <a:srgbClr val="F4F6F8"/>
          </a:solidFill>
          <a:ln/>
          <a:effectLst>
            <a:outerShdw sx="100000" sy="100000" kx="0" ky="0" algn="bl" rotWithShape="0" blurRad="88900" dist="38100" dir="5400000">
              <a:srgbClr val="000000">
                <a:alpha val="13000"/>
              </a:srgbClr>
            </a:outerShdw>
          </a:effectLst>
        </p:spPr>
      </p:sp>
      <p:sp>
        <p:nvSpPr>
          <p:cNvPr id="24" name="Shape 21"/>
          <p:cNvSpPr/>
          <p:nvPr/>
        </p:nvSpPr>
        <p:spPr>
          <a:xfrm>
            <a:off x="4562856" y="4462272"/>
            <a:ext cx="502920" cy="502920"/>
          </a:xfrm>
          <a:prstGeom prst="ellipse">
            <a:avLst/>
          </a:prstGeom>
          <a:solidFill>
            <a:srgbClr val="D7EEF0"/>
          </a:solidFill>
          <a:ln/>
        </p:spPr>
      </p:sp>
      <p:pic>
        <p:nvPicPr>
          <p:cNvPr id="25" name="Image 1" descr="preencoded.png">    </p:cNvPr>
          <p:cNvPicPr>
            <a:picLocks noChangeAspect="1"/>
          </p:cNvPicPr>
          <p:nvPr/>
        </p:nvPicPr>
        <p:blipFill>
          <a:blip r:embed="rId2"/>
          <a:stretch>
            <a:fillRect/>
          </a:stretch>
        </p:blipFill>
        <p:spPr>
          <a:xfrm>
            <a:off x="4672584" y="4572000"/>
            <a:ext cx="283464" cy="283464"/>
          </a:xfrm>
          <a:prstGeom prst="rect">
            <a:avLst/>
          </a:prstGeom>
        </p:spPr>
      </p:pic>
      <p:sp>
        <p:nvSpPr>
          <p:cNvPr id="26" name="Text 22"/>
          <p:cNvSpPr/>
          <p:nvPr/>
        </p:nvSpPr>
        <p:spPr>
          <a:xfrm>
            <a:off x="5202936" y="4462272"/>
            <a:ext cx="2496312" cy="50292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車内・車外をまたぐ</a:t>
            </a:r>
            <a:endParaRPr lang="en-US" sz="1450" dirty="0"/>
          </a:p>
        </p:txBody>
      </p:sp>
      <p:sp>
        <p:nvSpPr>
          <p:cNvPr id="27" name="Text 23"/>
          <p:cNvSpPr/>
          <p:nvPr/>
        </p:nvSpPr>
        <p:spPr>
          <a:xfrm>
            <a:off x="4581144" y="5074920"/>
            <a:ext cx="3026664"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SOME/IP等のプロトコルで、ECU間からクラウドまで柔軟に連携。</a:t>
            </a:r>
            <a:endParaRPr lang="en-US" sz="1150" dirty="0"/>
          </a:p>
        </p:txBody>
      </p:sp>
      <p:sp>
        <p:nvSpPr>
          <p:cNvPr id="28" name="Shape 24"/>
          <p:cNvSpPr/>
          <p:nvPr/>
        </p:nvSpPr>
        <p:spPr>
          <a:xfrm>
            <a:off x="8028432" y="4206240"/>
            <a:ext cx="3593592" cy="1508760"/>
          </a:xfrm>
          <a:prstGeom prst="roundRect">
            <a:avLst>
              <a:gd name="adj" fmla="val 4242"/>
            </a:avLst>
          </a:prstGeom>
          <a:solidFill>
            <a:srgbClr val="F4F6F8"/>
          </a:solidFill>
          <a:ln/>
          <a:effectLst>
            <a:outerShdw sx="100000" sy="100000" kx="0" ky="0" algn="bl" rotWithShape="0" blurRad="88900" dist="38100" dir="5400000">
              <a:srgbClr val="000000">
                <a:alpha val="13000"/>
              </a:srgbClr>
            </a:outerShdw>
          </a:effectLst>
        </p:spPr>
      </p:sp>
      <p:sp>
        <p:nvSpPr>
          <p:cNvPr id="29" name="Shape 25"/>
          <p:cNvSpPr/>
          <p:nvPr/>
        </p:nvSpPr>
        <p:spPr>
          <a:xfrm>
            <a:off x="8302752" y="4462272"/>
            <a:ext cx="502920" cy="502920"/>
          </a:xfrm>
          <a:prstGeom prst="ellipse">
            <a:avLst/>
          </a:prstGeom>
          <a:solidFill>
            <a:srgbClr val="D7EEF0"/>
          </a:solidFill>
          <a:ln/>
        </p:spPr>
      </p:sp>
      <p:pic>
        <p:nvPicPr>
          <p:cNvPr id="30" name="Image 2" descr="preencoded.png">    </p:cNvPr>
          <p:cNvPicPr>
            <a:picLocks noChangeAspect="1"/>
          </p:cNvPicPr>
          <p:nvPr/>
        </p:nvPicPr>
        <p:blipFill>
          <a:blip r:embed="rId3"/>
          <a:stretch>
            <a:fillRect/>
          </a:stretch>
        </p:blipFill>
        <p:spPr>
          <a:xfrm>
            <a:off x="8412480" y="4572000"/>
            <a:ext cx="283464" cy="283464"/>
          </a:xfrm>
          <a:prstGeom prst="rect">
            <a:avLst/>
          </a:prstGeom>
        </p:spPr>
      </p:pic>
      <p:sp>
        <p:nvSpPr>
          <p:cNvPr id="31" name="Text 26"/>
          <p:cNvSpPr/>
          <p:nvPr/>
        </p:nvSpPr>
        <p:spPr>
          <a:xfrm>
            <a:off x="8942832" y="4462272"/>
            <a:ext cx="2496312" cy="502920"/>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後付け・更新に強い</a:t>
            </a:r>
            <a:endParaRPr lang="en-US" sz="1450" dirty="0"/>
          </a:p>
        </p:txBody>
      </p:sp>
      <p:sp>
        <p:nvSpPr>
          <p:cNvPr id="32" name="Text 27"/>
          <p:cNvSpPr/>
          <p:nvPr/>
        </p:nvSpPr>
        <p:spPr>
          <a:xfrm>
            <a:off x="8321040" y="5074920"/>
            <a:ext cx="3026664"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機能をサービス単位で追加・差し替えしやすい。</a:t>
            </a:r>
            <a:endParaRPr lang="en-US" sz="1150" dirty="0"/>
          </a:p>
        </p:txBody>
      </p:sp>
      <p:sp>
        <p:nvSpPr>
          <p:cNvPr id="33" name="Text 28"/>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12</a:t>
            </a:r>
            <a:endParaRPr lang="en-US" sz="1100" dirty="0"/>
          </a:p>
        </p:txBody>
      </p:sp>
      <p:sp>
        <p:nvSpPr>
          <p:cNvPr id="34" name="Text 29"/>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13</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AT A GLANCE</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Classic と Adaptive の比較</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同じAUTOSARでも、土台も世界観も大きく異なる</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2286000"/>
          <a:ext cx="11064240" cy="914400"/>
        </p:xfrm>
        <a:graphic>
          <a:graphicData uri="http://schemas.openxmlformats.org/drawingml/2006/table">
            <a:tbl>
              <a:tblPr/>
              <a:tblGrid>
                <a:gridCol w="2286000"/>
                <a:gridCol w="4389120"/>
                <a:gridCol w="4389120"/>
              </a:tblGrid>
              <a:tr h="457200">
                <a:tc>
                  <a:txBody>
                    <a:bodyPr/>
                    <a:lstStyle/>
                    <a:p>
                      <a:pPr algn="l" indent="0" marL="0">
                        <a:buNone/>
                      </a:pPr>
                      <a:r>
                        <a:rPr lang="en-US" sz="1300" b="1" dirty="0">
                          <a:solidFill>
                            <a:srgbClr val="5C6B7A"/>
                          </a:solidFill>
                        </a:rPr>
                        <a:t>観点</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ctr" indent="0" marL="0">
                        <a:buNone/>
                      </a:pPr>
                      <a:r>
                        <a:rPr lang="en-US" sz="1500" b="1" dirty="0">
                          <a:solidFill>
                            <a:srgbClr val="FFFFFF"/>
                          </a:solidFill>
                        </a:rPr>
                        <a:t>Classic Platform</a:t>
                      </a:r>
                      <a:endParaRPr lang="en-US" sz="15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62232"/>
                    </a:solidFill>
                  </a:tcPr>
                </a:tc>
                <a:tc>
                  <a:txBody>
                    <a:bodyPr/>
                    <a:lstStyle/>
                    <a:p>
                      <a:pPr algn="ctr" indent="0" marL="0">
                        <a:buNone/>
                      </a:pPr>
                      <a:r>
                        <a:rPr lang="en-US" sz="1500" b="1" dirty="0">
                          <a:solidFill>
                            <a:srgbClr val="FFFFFF"/>
                          </a:solidFill>
                        </a:rPr>
                        <a:t>Adaptive Platform</a:t>
                      </a:r>
                      <a:endParaRPr lang="en-US" sz="15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0E9AA7"/>
                    </a:solidFill>
                  </a:tcPr>
                </a:tc>
              </a:tr>
              <a:tr h="475488">
                <a:tc>
                  <a:txBody>
                    <a:bodyPr/>
                    <a:lstStyle/>
                    <a:p>
                      <a:pPr algn="l" indent="0" marL="0">
                        <a:buNone/>
                      </a:pPr>
                      <a:r>
                        <a:rPr lang="en-US" sz="1300" b="1" dirty="0">
                          <a:solidFill>
                            <a:srgbClr val="5C6B7A"/>
                          </a:solidFill>
                        </a:rPr>
                        <a:t>OS／土台</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OSEK/VDX系の静的OS</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POSIXベースの動的OS</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5C6B7A"/>
                          </a:solidFill>
                        </a:rPr>
                        <a:t>リアルタイム性</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ハードリアルタイム</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柔軟（高性能・大規模処理向き）</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5C6B7A"/>
                          </a:solidFill>
                        </a:rPr>
                        <a:t>主な言語</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C++</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5C6B7A"/>
                          </a:solidFill>
                        </a:rPr>
                        <a:t>構成</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静的（起動時に固定）</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動的（プロセス分離・後から更新）</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5C6B7A"/>
                          </a:solidFill>
                        </a:rPr>
                        <a:t>通信</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信号ベース（固定的）</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サービス指向（SOA／動的発見）</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75488">
                <a:tc>
                  <a:txBody>
                    <a:bodyPr/>
                    <a:lstStyle/>
                    <a:p>
                      <a:pPr algn="l" indent="0" marL="0">
                        <a:buNone/>
                      </a:pPr>
                      <a:r>
                        <a:rPr lang="en-US" sz="1300" b="1" dirty="0">
                          <a:solidFill>
                            <a:srgbClr val="5C6B7A"/>
                          </a:solidFill>
                        </a:rPr>
                        <a:t>主な用途</a:t>
                      </a:r>
                      <a:endParaRPr lang="en-US" sz="1300" dirty="0"/>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AEFF3"/>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制御系ECU（エンジン・ブレーキ等）</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B2A3A"/>
                          </a:solidFill>
                          <a:latin typeface="Calibri" pitchFamily="34" charset="0"/>
                          <a:ea typeface="Calibri" pitchFamily="34" charset="-122"/>
                          <a:cs typeface="Calibri" pitchFamily="34" charset="-120"/>
                        </a:rPr>
                        <a:t>高機能系（自動運転・HPC・GW）</a:t>
                      </a:r>
                      <a:endParaRPr lang="en-US" sz="1300" dirty="0">
                        <a:latin typeface="Calibri" charset="0"/>
                        <a:ea typeface="Calibri" charset="0"/>
                        <a:cs typeface="Calibri" charset="0"/>
                      </a:endParaRPr>
                    </a:p>
                  </a:txBody>
                  <a:tcPr marL="101600" marR="101600" marT="38100" marB="381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8" name="Text 5"/>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13</a:t>
            </a:r>
            <a:endParaRPr lang="en-US" sz="1100" dirty="0"/>
          </a:p>
        </p:txBody>
      </p:sp>
      <p:sp>
        <p:nvSpPr>
          <p:cNvPr id="9" name="Text 6"/>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457200"/>
            <a:ext cx="310896" cy="310896"/>
          </a:xfrm>
          <a:prstGeom prst="roundRect">
            <a:avLst>
              <a:gd name="adj" fmla="val 20588"/>
            </a:avLst>
          </a:prstGeom>
          <a:solidFill>
            <a:srgbClr val="0E9AA7"/>
          </a:solidFill>
          <a:ln/>
        </p:spPr>
      </p:sp>
      <p:sp>
        <p:nvSpPr>
          <p:cNvPr id="3" name="Text 1"/>
          <p:cNvSpPr/>
          <p:nvPr/>
        </p:nvSpPr>
        <p:spPr>
          <a:xfrm>
            <a:off x="548640" y="457200"/>
            <a:ext cx="31089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14</a:t>
            </a:r>
            <a:endParaRPr lang="en-US" sz="1200" dirty="0"/>
          </a:p>
        </p:txBody>
      </p:sp>
      <p:sp>
        <p:nvSpPr>
          <p:cNvPr id="4" name="Text 2"/>
          <p:cNvSpPr/>
          <p:nvPr/>
        </p:nvSpPr>
        <p:spPr>
          <a:xfrm>
            <a:off x="950976" y="457200"/>
            <a:ext cx="8229600" cy="310896"/>
          </a:xfrm>
          <a:prstGeom prst="rect">
            <a:avLst/>
          </a:prstGeom>
          <a:noFill/>
          <a:ln/>
        </p:spPr>
        <p:txBody>
          <a:bodyPr wrap="square" lIns="0" tIns="0" rIns="0" bIns="0" rtlCol="0" anchor="ctr"/>
          <a:lstStyle/>
          <a:p>
            <a:pPr indent="0" marL="0">
              <a:buNone/>
            </a:pPr>
            <a:r>
              <a:rPr lang="en-US" sz="1200" b="1" spc="150" kern="0" dirty="0">
                <a:solidFill>
                  <a:srgbClr val="0E9AA7"/>
                </a:solidFill>
                <a:latin typeface="Calibri" pitchFamily="34" charset="0"/>
                <a:ea typeface="Calibri" pitchFamily="34" charset="-122"/>
                <a:cs typeface="Calibri" pitchFamily="34" charset="-120"/>
              </a:rPr>
              <a:t>RECENT TRENDS</a:t>
            </a:r>
            <a:endParaRPr lang="en-US" sz="1200" dirty="0"/>
          </a:p>
        </p:txBody>
      </p:sp>
      <p:sp>
        <p:nvSpPr>
          <p:cNvPr id="5" name="Text 3"/>
          <p:cNvSpPr/>
          <p:nvPr/>
        </p:nvSpPr>
        <p:spPr>
          <a:xfrm>
            <a:off x="530352" y="841248"/>
            <a:ext cx="11064240" cy="777240"/>
          </a:xfrm>
          <a:prstGeom prst="rect">
            <a:avLst/>
          </a:prstGeom>
          <a:noFill/>
          <a:ln/>
        </p:spPr>
        <p:txBody>
          <a:bodyPr wrap="square" lIns="0" tIns="0" rIns="0" bIns="0" rtlCol="0" anchor="ctr"/>
          <a:lstStyle/>
          <a:p>
            <a:pPr indent="0" marL="0">
              <a:buNone/>
            </a:pPr>
            <a:r>
              <a:rPr lang="en-US" sz="3000" b="1" dirty="0">
                <a:solidFill>
                  <a:srgbClr val="1B2A3A"/>
                </a:solidFill>
                <a:latin typeface="Century Schoolbook" pitchFamily="34" charset="0"/>
                <a:ea typeface="Century Schoolbook" pitchFamily="34" charset="-122"/>
                <a:cs typeface="Century Schoolbook" pitchFamily="34" charset="-120"/>
              </a:rPr>
              <a:t>最近の動向：SDVとの関係</a:t>
            </a:r>
            <a:endParaRPr lang="en-US" sz="3000" dirty="0"/>
          </a:p>
        </p:txBody>
      </p:sp>
      <p:sp>
        <p:nvSpPr>
          <p:cNvPr id="6" name="Text 4"/>
          <p:cNvSpPr/>
          <p:nvPr/>
        </p:nvSpPr>
        <p:spPr>
          <a:xfrm>
            <a:off x="548640" y="1591056"/>
            <a:ext cx="11064240" cy="411480"/>
          </a:xfrm>
          <a:prstGeom prst="rect">
            <a:avLst/>
          </a:prstGeom>
          <a:noFill/>
          <a:ln/>
        </p:spPr>
        <p:txBody>
          <a:bodyPr wrap="square" lIns="0" tIns="0" rIns="0" bIns="0" rtlCol="0" anchor="ctr"/>
          <a:lstStyle/>
          <a:p>
            <a:pPr indent="0" marL="0">
              <a:buNone/>
            </a:pPr>
            <a:r>
              <a:rPr lang="en-US" sz="1400" i="1" dirty="0">
                <a:solidFill>
                  <a:srgbClr val="5C6B7A"/>
                </a:solidFill>
                <a:latin typeface="Calibri" pitchFamily="34" charset="0"/>
                <a:ea typeface="Calibri" pitchFamily="34" charset="-122"/>
                <a:cs typeface="Calibri" pitchFamily="34" charset="-120"/>
              </a:rPr>
              <a:t>ソフトウェア定義車両（SDV）が、AUTOSARの追い風になっている</a:t>
            </a:r>
            <a:endParaRPr lang="en-US" sz="1400" dirty="0"/>
          </a:p>
        </p:txBody>
      </p:sp>
      <p:sp>
        <p:nvSpPr>
          <p:cNvPr id="7" name="Shape 5"/>
          <p:cNvSpPr/>
          <p:nvPr/>
        </p:nvSpPr>
        <p:spPr>
          <a:xfrm>
            <a:off x="548640" y="2286000"/>
            <a:ext cx="11064240" cy="868680"/>
          </a:xfrm>
          <a:prstGeom prst="roundRect">
            <a:avLst>
              <a:gd name="adj" fmla="val 8421"/>
            </a:avLst>
          </a:prstGeom>
          <a:solidFill>
            <a:srgbClr val="162232"/>
          </a:solidFill>
          <a:ln/>
          <a:effectLst>
            <a:outerShdw sx="100000" sy="100000" kx="0" ky="0" algn="bl" rotWithShape="0" blurRad="88900" dist="38100" dir="5400000">
              <a:srgbClr val="000000">
                <a:alpha val="13000"/>
              </a:srgbClr>
            </a:outerShdw>
          </a:effectLst>
        </p:spPr>
      </p:sp>
      <p:sp>
        <p:nvSpPr>
          <p:cNvPr id="8" name="Text 6"/>
          <p:cNvSpPr/>
          <p:nvPr/>
        </p:nvSpPr>
        <p:spPr>
          <a:xfrm>
            <a:off x="822960" y="2286000"/>
            <a:ext cx="10515600" cy="868680"/>
          </a:xfrm>
          <a:prstGeom prst="rect">
            <a:avLst/>
          </a:prstGeom>
          <a:noFill/>
          <a:ln/>
        </p:spPr>
        <p:txBody>
          <a:bodyPr wrap="square" lIns="0" tIns="0" rIns="0" bIns="0" rtlCol="0" anchor="ctr"/>
          <a:lstStyle/>
          <a:p>
            <a:pPr indent="0" marL="0">
              <a:buNone/>
            </a:pPr>
            <a:r>
              <a:rPr lang="en-US" sz="1450" b="1" dirty="0">
                <a:solidFill>
                  <a:srgbClr val="E08A2B"/>
                </a:solidFill>
                <a:latin typeface="Calibri" pitchFamily="34" charset="0"/>
                <a:ea typeface="Calibri" pitchFamily="34" charset="-122"/>
                <a:cs typeface="Calibri" pitchFamily="34" charset="-120"/>
              </a:rPr>
              <a:t>SDV（Software Defined Vehicle）とは：  </a:t>
            </a:r>
            <a:pPr indent="0" marL="0">
              <a:buNone/>
            </a:pPr>
            <a:r>
              <a:rPr lang="en-US" sz="1450" dirty="0">
                <a:solidFill>
                  <a:srgbClr val="FFFFFF"/>
                </a:solidFill>
                <a:latin typeface="Calibri" pitchFamily="34" charset="0"/>
                <a:ea typeface="Calibri" pitchFamily="34" charset="-122"/>
                <a:cs typeface="Calibri" pitchFamily="34" charset="-120"/>
              </a:rPr>
              <a:t>車の価値や機能を、ハードではなくソフトウェアで定義・更新していく考え方。</a:t>
            </a:r>
            <a:endParaRPr lang="en-US" sz="1450" dirty="0"/>
          </a:p>
        </p:txBody>
      </p:sp>
      <p:sp>
        <p:nvSpPr>
          <p:cNvPr id="9" name="Shape 7"/>
          <p:cNvSpPr/>
          <p:nvPr/>
        </p:nvSpPr>
        <p:spPr>
          <a:xfrm>
            <a:off x="548640" y="3337560"/>
            <a:ext cx="5440680" cy="1143000"/>
          </a:xfrm>
          <a:prstGeom prst="roundRect">
            <a:avLst>
              <a:gd name="adj" fmla="val 5600"/>
            </a:avLst>
          </a:prstGeom>
          <a:solidFill>
            <a:srgbClr val="F4F6F8"/>
          </a:solidFill>
          <a:ln/>
          <a:effectLst>
            <a:outerShdw sx="100000" sy="100000" kx="0" ky="0" algn="bl" rotWithShape="0" blurRad="88900" dist="38100" dir="5400000">
              <a:srgbClr val="000000">
                <a:alpha val="13000"/>
              </a:srgbClr>
            </a:outerShdw>
          </a:effectLst>
        </p:spPr>
      </p:sp>
      <p:sp>
        <p:nvSpPr>
          <p:cNvPr id="10" name="Shape 8"/>
          <p:cNvSpPr/>
          <p:nvPr/>
        </p:nvSpPr>
        <p:spPr>
          <a:xfrm>
            <a:off x="786384" y="3639312"/>
            <a:ext cx="530352" cy="530352"/>
          </a:xfrm>
          <a:prstGeom prst="ellipse">
            <a:avLst/>
          </a:prstGeom>
          <a:solidFill>
            <a:srgbClr val="D7EEF0"/>
          </a:solidFill>
          <a:ln/>
        </p:spPr>
      </p:sp>
      <p:pic>
        <p:nvPicPr>
          <p:cNvPr id="11" name="Image 0" descr="preencoded.png">    </p:cNvPr>
          <p:cNvPicPr>
            <a:picLocks noChangeAspect="1"/>
          </p:cNvPicPr>
          <p:nvPr/>
        </p:nvPicPr>
        <p:blipFill>
          <a:blip r:embed="rId1"/>
          <a:stretch>
            <a:fillRect/>
          </a:stretch>
        </p:blipFill>
        <p:spPr>
          <a:xfrm>
            <a:off x="905256" y="3758184"/>
            <a:ext cx="292608" cy="292608"/>
          </a:xfrm>
          <a:prstGeom prst="rect">
            <a:avLst/>
          </a:prstGeom>
        </p:spPr>
      </p:pic>
      <p:sp>
        <p:nvSpPr>
          <p:cNvPr id="12" name="Text 9"/>
          <p:cNvSpPr/>
          <p:nvPr/>
        </p:nvSpPr>
        <p:spPr>
          <a:xfrm>
            <a:off x="1463040" y="3502152"/>
            <a:ext cx="4343400" cy="38404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再利用・相互運用の再評価</a:t>
            </a:r>
            <a:endParaRPr lang="en-US" sz="1450" dirty="0"/>
          </a:p>
        </p:txBody>
      </p:sp>
      <p:sp>
        <p:nvSpPr>
          <p:cNvPr id="13" name="Text 10"/>
          <p:cNvSpPr/>
          <p:nvPr/>
        </p:nvSpPr>
        <p:spPr>
          <a:xfrm>
            <a:off x="1463040" y="3867912"/>
            <a:ext cx="4343400"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SDVを支える基盤として、AUTOSARの「共通化」の価値が改めて重視されている。</a:t>
            </a:r>
            <a:endParaRPr lang="en-US" sz="1150" dirty="0"/>
          </a:p>
        </p:txBody>
      </p:sp>
      <p:sp>
        <p:nvSpPr>
          <p:cNvPr id="14" name="Shape 11"/>
          <p:cNvSpPr/>
          <p:nvPr/>
        </p:nvSpPr>
        <p:spPr>
          <a:xfrm>
            <a:off x="6172200" y="3337560"/>
            <a:ext cx="5440680" cy="1143000"/>
          </a:xfrm>
          <a:prstGeom prst="roundRect">
            <a:avLst>
              <a:gd name="adj" fmla="val 5600"/>
            </a:avLst>
          </a:prstGeom>
          <a:solidFill>
            <a:srgbClr val="F4F6F8"/>
          </a:solidFill>
          <a:ln/>
          <a:effectLst>
            <a:outerShdw sx="100000" sy="100000" kx="0" ky="0" algn="bl" rotWithShape="0" blurRad="88900" dist="38100" dir="5400000">
              <a:srgbClr val="000000">
                <a:alpha val="13000"/>
              </a:srgbClr>
            </a:outerShdw>
          </a:effectLst>
        </p:spPr>
      </p:sp>
      <p:sp>
        <p:nvSpPr>
          <p:cNvPr id="15" name="Shape 12"/>
          <p:cNvSpPr/>
          <p:nvPr/>
        </p:nvSpPr>
        <p:spPr>
          <a:xfrm>
            <a:off x="6409944" y="3639312"/>
            <a:ext cx="530352" cy="530352"/>
          </a:xfrm>
          <a:prstGeom prst="ellipse">
            <a:avLst/>
          </a:prstGeom>
          <a:solidFill>
            <a:srgbClr val="D7EEF0"/>
          </a:solidFill>
          <a:ln/>
        </p:spPr>
      </p:sp>
      <p:pic>
        <p:nvPicPr>
          <p:cNvPr id="16" name="Image 1" descr="preencoded.png">    </p:cNvPr>
          <p:cNvPicPr>
            <a:picLocks noChangeAspect="1"/>
          </p:cNvPicPr>
          <p:nvPr/>
        </p:nvPicPr>
        <p:blipFill>
          <a:blip r:embed="rId2"/>
          <a:stretch>
            <a:fillRect/>
          </a:stretch>
        </p:blipFill>
        <p:spPr>
          <a:xfrm>
            <a:off x="6528816" y="3758184"/>
            <a:ext cx="292608" cy="292608"/>
          </a:xfrm>
          <a:prstGeom prst="rect">
            <a:avLst/>
          </a:prstGeom>
        </p:spPr>
      </p:pic>
      <p:sp>
        <p:nvSpPr>
          <p:cNvPr id="17" name="Text 13"/>
          <p:cNvSpPr/>
          <p:nvPr/>
        </p:nvSpPr>
        <p:spPr>
          <a:xfrm>
            <a:off x="7086600" y="3502152"/>
            <a:ext cx="4343400" cy="38404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インテグレーションが鍵</a:t>
            </a:r>
            <a:endParaRPr lang="en-US" sz="1450" dirty="0"/>
          </a:p>
        </p:txBody>
      </p:sp>
      <p:sp>
        <p:nvSpPr>
          <p:cNvPr id="18" name="Text 14"/>
          <p:cNvSpPr/>
          <p:nvPr/>
        </p:nvSpPr>
        <p:spPr>
          <a:xfrm>
            <a:off x="7086600" y="3867912"/>
            <a:ext cx="4343400"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多数のソフトをどう組み合わせ統合するかが、SDV時代の中心テーマに。</a:t>
            </a:r>
            <a:endParaRPr lang="en-US" sz="1150" dirty="0"/>
          </a:p>
        </p:txBody>
      </p:sp>
      <p:sp>
        <p:nvSpPr>
          <p:cNvPr id="19" name="Shape 15"/>
          <p:cNvSpPr/>
          <p:nvPr/>
        </p:nvSpPr>
        <p:spPr>
          <a:xfrm>
            <a:off x="548640" y="4645152"/>
            <a:ext cx="5440680" cy="1143000"/>
          </a:xfrm>
          <a:prstGeom prst="roundRect">
            <a:avLst>
              <a:gd name="adj" fmla="val 5600"/>
            </a:avLst>
          </a:prstGeom>
          <a:solidFill>
            <a:srgbClr val="F4F6F8"/>
          </a:solidFill>
          <a:ln/>
          <a:effectLst>
            <a:outerShdw sx="100000" sy="100000" kx="0" ky="0" algn="bl" rotWithShape="0" blurRad="88900" dist="38100" dir="5400000">
              <a:srgbClr val="000000">
                <a:alpha val="13000"/>
              </a:srgbClr>
            </a:outerShdw>
          </a:effectLst>
        </p:spPr>
      </p:sp>
      <p:sp>
        <p:nvSpPr>
          <p:cNvPr id="20" name="Shape 16"/>
          <p:cNvSpPr/>
          <p:nvPr/>
        </p:nvSpPr>
        <p:spPr>
          <a:xfrm>
            <a:off x="786384" y="4946904"/>
            <a:ext cx="530352" cy="530352"/>
          </a:xfrm>
          <a:prstGeom prst="ellipse">
            <a:avLst/>
          </a:prstGeom>
          <a:solidFill>
            <a:srgbClr val="D7EEF0"/>
          </a:solidFill>
          <a:ln/>
        </p:spPr>
      </p:sp>
      <p:pic>
        <p:nvPicPr>
          <p:cNvPr id="21" name="Image 2" descr="preencoded.png">    </p:cNvPr>
          <p:cNvPicPr>
            <a:picLocks noChangeAspect="1"/>
          </p:cNvPicPr>
          <p:nvPr/>
        </p:nvPicPr>
        <p:blipFill>
          <a:blip r:embed="rId3"/>
          <a:stretch>
            <a:fillRect/>
          </a:stretch>
        </p:blipFill>
        <p:spPr>
          <a:xfrm>
            <a:off x="905256" y="5065776"/>
            <a:ext cx="292608" cy="292608"/>
          </a:xfrm>
          <a:prstGeom prst="rect">
            <a:avLst/>
          </a:prstGeom>
        </p:spPr>
      </p:pic>
      <p:sp>
        <p:nvSpPr>
          <p:cNvPr id="22" name="Text 17"/>
          <p:cNvSpPr/>
          <p:nvPr/>
        </p:nvSpPr>
        <p:spPr>
          <a:xfrm>
            <a:off x="1463040" y="4809744"/>
            <a:ext cx="4343400" cy="38404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オープンソースの波</a:t>
            </a:r>
            <a:endParaRPr lang="en-US" sz="1450" dirty="0"/>
          </a:p>
        </p:txBody>
      </p:sp>
      <p:sp>
        <p:nvSpPr>
          <p:cNvPr id="23" name="Text 18"/>
          <p:cNvSpPr/>
          <p:nvPr/>
        </p:nvSpPr>
        <p:spPr>
          <a:xfrm>
            <a:off x="1463040" y="5175504"/>
            <a:ext cx="4343400"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従来の仕様駆動に加え、コードを先に動かす「Code First」的な流れも議論されている。</a:t>
            </a:r>
            <a:endParaRPr lang="en-US" sz="1150" dirty="0"/>
          </a:p>
        </p:txBody>
      </p:sp>
      <p:sp>
        <p:nvSpPr>
          <p:cNvPr id="24" name="Shape 19"/>
          <p:cNvSpPr/>
          <p:nvPr/>
        </p:nvSpPr>
        <p:spPr>
          <a:xfrm>
            <a:off x="6172200" y="4645152"/>
            <a:ext cx="5440680" cy="1143000"/>
          </a:xfrm>
          <a:prstGeom prst="roundRect">
            <a:avLst>
              <a:gd name="adj" fmla="val 5600"/>
            </a:avLst>
          </a:prstGeom>
          <a:solidFill>
            <a:srgbClr val="F4F6F8"/>
          </a:solidFill>
          <a:ln/>
          <a:effectLst>
            <a:outerShdw sx="100000" sy="100000" kx="0" ky="0" algn="bl" rotWithShape="0" blurRad="88900" dist="38100" dir="5400000">
              <a:srgbClr val="000000">
                <a:alpha val="13000"/>
              </a:srgbClr>
            </a:outerShdw>
          </a:effectLst>
        </p:spPr>
      </p:sp>
      <p:sp>
        <p:nvSpPr>
          <p:cNvPr id="25" name="Shape 20"/>
          <p:cNvSpPr/>
          <p:nvPr/>
        </p:nvSpPr>
        <p:spPr>
          <a:xfrm>
            <a:off x="6409944" y="4946904"/>
            <a:ext cx="530352" cy="530352"/>
          </a:xfrm>
          <a:prstGeom prst="ellipse">
            <a:avLst/>
          </a:prstGeom>
          <a:solidFill>
            <a:srgbClr val="D7EEF0"/>
          </a:solidFill>
          <a:ln/>
        </p:spPr>
      </p:sp>
      <p:pic>
        <p:nvPicPr>
          <p:cNvPr id="26" name="Image 3" descr="preencoded.png">    </p:cNvPr>
          <p:cNvPicPr>
            <a:picLocks noChangeAspect="1"/>
          </p:cNvPicPr>
          <p:nvPr/>
        </p:nvPicPr>
        <p:blipFill>
          <a:blip r:embed="rId4"/>
          <a:stretch>
            <a:fillRect/>
          </a:stretch>
        </p:blipFill>
        <p:spPr>
          <a:xfrm>
            <a:off x="6528816" y="5065776"/>
            <a:ext cx="292608" cy="292608"/>
          </a:xfrm>
          <a:prstGeom prst="rect">
            <a:avLst/>
          </a:prstGeom>
        </p:spPr>
      </p:pic>
      <p:sp>
        <p:nvSpPr>
          <p:cNvPr id="27" name="Text 21"/>
          <p:cNvSpPr/>
          <p:nvPr/>
        </p:nvSpPr>
        <p:spPr>
          <a:xfrm>
            <a:off x="7086600" y="4809744"/>
            <a:ext cx="4343400" cy="384048"/>
          </a:xfrm>
          <a:prstGeom prst="rect">
            <a:avLst/>
          </a:prstGeom>
          <a:noFill/>
          <a:ln/>
        </p:spPr>
        <p:txBody>
          <a:bodyPr wrap="square" lIns="0" tIns="0" rIns="0" bIns="0" rtlCol="0" anchor="ctr"/>
          <a:lstStyle/>
          <a:p>
            <a:pPr indent="0" marL="0">
              <a:buNone/>
            </a:pPr>
            <a:r>
              <a:rPr lang="en-US" sz="1450" b="1" dirty="0">
                <a:solidFill>
                  <a:srgbClr val="1B2A3A"/>
                </a:solidFill>
                <a:latin typeface="Calibri" pitchFamily="34" charset="0"/>
                <a:ea typeface="Calibri" pitchFamily="34" charset="-122"/>
                <a:cs typeface="Calibri" pitchFamily="34" charset="-120"/>
              </a:rPr>
              <a:t>APの役割拡大</a:t>
            </a:r>
            <a:endParaRPr lang="en-US" sz="1450" dirty="0"/>
          </a:p>
        </p:txBody>
      </p:sp>
      <p:sp>
        <p:nvSpPr>
          <p:cNvPr id="28" name="Text 22"/>
          <p:cNvSpPr/>
          <p:nvPr/>
        </p:nvSpPr>
        <p:spPr>
          <a:xfrm>
            <a:off x="7086600" y="5175504"/>
            <a:ext cx="4343400" cy="548640"/>
          </a:xfrm>
          <a:prstGeom prst="rect">
            <a:avLst/>
          </a:prstGeom>
          <a:noFill/>
          <a:ln/>
        </p:spPr>
        <p:txBody>
          <a:bodyPr wrap="square" lIns="0" tIns="0" rIns="0" bIns="0" rtlCol="0" anchor="t"/>
          <a:lstStyle/>
          <a:p>
            <a:pPr indent="0" marL="0">
              <a:buNone/>
            </a:pPr>
            <a:r>
              <a:rPr lang="en-US" sz="1150" dirty="0">
                <a:solidFill>
                  <a:srgbClr val="5C6B7A"/>
                </a:solidFill>
                <a:latin typeface="Calibri" pitchFamily="34" charset="0"/>
                <a:ea typeface="Calibri" pitchFamily="34" charset="-122"/>
                <a:cs typeface="Calibri" pitchFamily="34" charset="-120"/>
              </a:rPr>
              <a:t>高機能・つながる・更新できる領域で、Adaptive Platformが中心的な役割を担う。</a:t>
            </a:r>
            <a:endParaRPr lang="en-US" sz="1150" dirty="0"/>
          </a:p>
        </p:txBody>
      </p:sp>
      <p:sp>
        <p:nvSpPr>
          <p:cNvPr id="29" name="Text 23"/>
          <p:cNvSpPr/>
          <p:nvPr/>
        </p:nvSpPr>
        <p:spPr>
          <a:xfrm>
            <a:off x="11247120" y="6309360"/>
            <a:ext cx="640080" cy="365760"/>
          </a:xfrm>
          <a:prstGeom prst="rect">
            <a:avLst/>
          </a:prstGeom>
          <a:noFill/>
          <a:ln/>
        </p:spPr>
        <p:txBody>
          <a:bodyPr wrap="square" rtlCol="0" anchor="ctr"/>
          <a:lstStyle/>
          <a:p>
            <a:pPr algn="r" indent="0" marL="0">
              <a:buNone/>
            </a:pPr>
            <a:r>
              <a:rPr lang="en-US" sz="1100" dirty="0">
                <a:solidFill>
                  <a:srgbClr val="C9D4DD"/>
                </a:solidFill>
                <a:latin typeface="Calibri" pitchFamily="34" charset="0"/>
                <a:ea typeface="Calibri" pitchFamily="34" charset="-122"/>
                <a:cs typeface="Calibri" pitchFamily="34" charset="-120"/>
              </a:rPr>
              <a:t>14</a:t>
            </a:r>
            <a:endParaRPr lang="en-US" sz="1100" dirty="0"/>
          </a:p>
        </p:txBody>
      </p:sp>
      <p:sp>
        <p:nvSpPr>
          <p:cNvPr id="30" name="Text 24"/>
          <p:cNvSpPr/>
          <p:nvPr/>
        </p:nvSpPr>
        <p:spPr>
          <a:xfrm>
            <a:off x="548640" y="6291072"/>
            <a:ext cx="7315200" cy="365760"/>
          </a:xfrm>
          <a:prstGeom prst="rect">
            <a:avLst/>
          </a:prstGeom>
          <a:noFill/>
          <a:ln/>
        </p:spPr>
        <p:txBody>
          <a:bodyPr wrap="square" rtlCol="0" anchor="ctr"/>
          <a:lstStyle/>
          <a:p>
            <a:pPr algn="l" indent="0" marL="0">
              <a:buNone/>
            </a:pPr>
            <a:r>
              <a:rPr lang="en-US" sz="1050" spc="100" kern="0" dirty="0">
                <a:solidFill>
                  <a:srgbClr val="5C6B7A"/>
                </a:solidFill>
                <a:latin typeface="Calibri" pitchFamily="34" charset="0"/>
                <a:ea typeface="Calibri" pitchFamily="34" charset="-122"/>
                <a:cs typeface="Calibri" pitchFamily="34" charset="-120"/>
              </a:rPr>
              <a:t>AUTOSAR入門 — Adaptive Platformを中心に</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62232"/>
        </a:solidFill>
      </p:bgPr>
    </p:bg>
    <p:spTree>
      <p:nvGrpSpPr>
        <p:cNvPr id="1" name=""/>
        <p:cNvGrpSpPr/>
        <p:nvPr/>
      </p:nvGrpSpPr>
      <p:grpSpPr>
        <a:xfrm>
          <a:off x="0" y="0"/>
          <a:ext cx="0" cy="0"/>
          <a:chOff x="0" y="0"/>
          <a:chExt cx="0" cy="0"/>
        </a:xfrm>
      </p:grpSpPr>
      <p:sp>
        <p:nvSpPr>
          <p:cNvPr id="2" name="Text 0"/>
          <p:cNvSpPr/>
          <p:nvPr/>
        </p:nvSpPr>
        <p:spPr>
          <a:xfrm>
            <a:off x="822960" y="640080"/>
            <a:ext cx="5486400" cy="365760"/>
          </a:xfrm>
          <a:prstGeom prst="rect">
            <a:avLst/>
          </a:prstGeom>
          <a:noFill/>
          <a:ln/>
        </p:spPr>
        <p:txBody>
          <a:bodyPr wrap="square" rtlCol="0" anchor="ctr"/>
          <a:lstStyle/>
          <a:p>
            <a:pPr indent="0" marL="0">
              <a:buNone/>
            </a:pPr>
            <a:r>
              <a:rPr lang="en-US" sz="1300" b="1" spc="200" kern="0" dirty="0">
                <a:solidFill>
                  <a:srgbClr val="0E9AA7"/>
                </a:solidFill>
                <a:latin typeface="Calibri" pitchFamily="34" charset="0"/>
                <a:ea typeface="Calibri" pitchFamily="34" charset="-122"/>
                <a:cs typeface="Calibri" pitchFamily="34" charset="-120"/>
              </a:rPr>
              <a:t>SUMMARY</a:t>
            </a:r>
            <a:endParaRPr lang="en-US" sz="1300" dirty="0"/>
          </a:p>
        </p:txBody>
      </p:sp>
      <p:sp>
        <p:nvSpPr>
          <p:cNvPr id="3" name="Text 1"/>
          <p:cNvSpPr/>
          <p:nvPr/>
        </p:nvSpPr>
        <p:spPr>
          <a:xfrm>
            <a:off x="777240" y="1005840"/>
            <a:ext cx="10515600" cy="731520"/>
          </a:xfrm>
          <a:prstGeom prst="rect">
            <a:avLst/>
          </a:prstGeom>
          <a:noFill/>
          <a:ln/>
        </p:spPr>
        <p:txBody>
          <a:bodyPr wrap="square" lIns="0" tIns="0" rIns="0" bIns="0" rtlCol="0" anchor="ctr"/>
          <a:lstStyle/>
          <a:p>
            <a:pPr indent="0" marL="0">
              <a:buNone/>
            </a:pPr>
            <a:r>
              <a:rPr lang="en-US" sz="3000" b="1" dirty="0">
                <a:solidFill>
                  <a:srgbClr val="FFFFFF"/>
                </a:solidFill>
                <a:latin typeface="Century Schoolbook" pitchFamily="34" charset="0"/>
                <a:ea typeface="Century Schoolbook" pitchFamily="34" charset="-122"/>
                <a:cs typeface="Century Schoolbook" pitchFamily="34" charset="-120"/>
              </a:rPr>
              <a:t>まとめ：分野外の技術者が押さえる要点</a:t>
            </a:r>
            <a:endParaRPr lang="en-US" sz="3000" dirty="0"/>
          </a:p>
        </p:txBody>
      </p:sp>
      <p:sp>
        <p:nvSpPr>
          <p:cNvPr id="4" name="Shape 2"/>
          <p:cNvSpPr/>
          <p:nvPr/>
        </p:nvSpPr>
        <p:spPr>
          <a:xfrm>
            <a:off x="777240" y="2148840"/>
            <a:ext cx="10607040" cy="868680"/>
          </a:xfrm>
          <a:prstGeom prst="roundRect">
            <a:avLst>
              <a:gd name="adj" fmla="val 7368"/>
            </a:avLst>
          </a:prstGeom>
          <a:solidFill>
            <a:srgbClr val="20344A"/>
          </a:solidFill>
          <a:ln/>
        </p:spPr>
      </p:sp>
      <p:sp>
        <p:nvSpPr>
          <p:cNvPr id="5" name="Shape 3"/>
          <p:cNvSpPr/>
          <p:nvPr/>
        </p:nvSpPr>
        <p:spPr>
          <a:xfrm>
            <a:off x="1005840" y="2331720"/>
            <a:ext cx="502920" cy="502920"/>
          </a:xfrm>
          <a:prstGeom prst="ellipse">
            <a:avLst/>
          </a:prstGeom>
          <a:solidFill>
            <a:srgbClr val="0E9AA7"/>
          </a:solidFill>
          <a:ln/>
        </p:spPr>
      </p:sp>
      <p:pic>
        <p:nvPicPr>
          <p:cNvPr id="6" name="Image 0" descr="preencoded.png">    </p:cNvPr>
          <p:cNvPicPr>
            <a:picLocks noChangeAspect="1"/>
          </p:cNvPicPr>
          <p:nvPr/>
        </p:nvPicPr>
        <p:blipFill>
          <a:blip r:embed="rId1"/>
          <a:stretch>
            <a:fillRect/>
          </a:stretch>
        </p:blipFill>
        <p:spPr>
          <a:xfrm>
            <a:off x="1115568" y="2441448"/>
            <a:ext cx="283464" cy="283464"/>
          </a:xfrm>
          <a:prstGeom prst="rect">
            <a:avLst/>
          </a:prstGeom>
        </p:spPr>
      </p:pic>
      <p:sp>
        <p:nvSpPr>
          <p:cNvPr id="7" name="Text 4"/>
          <p:cNvSpPr/>
          <p:nvPr/>
        </p:nvSpPr>
        <p:spPr>
          <a:xfrm>
            <a:off x="1737360" y="2267712"/>
            <a:ext cx="9418320"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AUTOSARは車載ソフトの標準</a:t>
            </a:r>
            <a:endParaRPr lang="en-US" sz="1550" dirty="0"/>
          </a:p>
        </p:txBody>
      </p:sp>
      <p:sp>
        <p:nvSpPr>
          <p:cNvPr id="8" name="Text 5"/>
          <p:cNvSpPr/>
          <p:nvPr/>
        </p:nvSpPr>
        <p:spPr>
          <a:xfrm>
            <a:off x="1737360" y="2606040"/>
            <a:ext cx="9418320" cy="365760"/>
          </a:xfrm>
          <a:prstGeom prst="rect">
            <a:avLst/>
          </a:prstGeom>
          <a:noFill/>
          <a:ln/>
        </p:spPr>
        <p:txBody>
          <a:bodyPr wrap="square" lIns="0" tIns="0" rIns="0" bIns="0" rtlCol="0" anchor="ctr"/>
          <a:lstStyle/>
          <a:p>
            <a:pPr indent="0" marL="0">
              <a:buNone/>
            </a:pPr>
            <a:r>
              <a:rPr lang="en-US" sz="1200" dirty="0">
                <a:solidFill>
                  <a:srgbClr val="BFCDD9"/>
                </a:solidFill>
                <a:latin typeface="Calibri" pitchFamily="34" charset="0"/>
                <a:ea typeface="Calibri" pitchFamily="34" charset="-122"/>
                <a:cs typeface="Calibri" pitchFamily="34" charset="-120"/>
              </a:rPr>
              <a:t>「団体」と「標準仕様」の両方。すでに量産車で使われる事実上の標準。</a:t>
            </a:r>
            <a:endParaRPr lang="en-US" sz="1200" dirty="0"/>
          </a:p>
        </p:txBody>
      </p:sp>
      <p:sp>
        <p:nvSpPr>
          <p:cNvPr id="9" name="Shape 6"/>
          <p:cNvSpPr/>
          <p:nvPr/>
        </p:nvSpPr>
        <p:spPr>
          <a:xfrm>
            <a:off x="777240" y="3163824"/>
            <a:ext cx="10607040" cy="868680"/>
          </a:xfrm>
          <a:prstGeom prst="roundRect">
            <a:avLst>
              <a:gd name="adj" fmla="val 7368"/>
            </a:avLst>
          </a:prstGeom>
          <a:solidFill>
            <a:srgbClr val="20344A"/>
          </a:solidFill>
          <a:ln/>
        </p:spPr>
      </p:sp>
      <p:sp>
        <p:nvSpPr>
          <p:cNvPr id="10" name="Shape 7"/>
          <p:cNvSpPr/>
          <p:nvPr/>
        </p:nvSpPr>
        <p:spPr>
          <a:xfrm>
            <a:off x="1005840" y="3346704"/>
            <a:ext cx="502920" cy="502920"/>
          </a:xfrm>
          <a:prstGeom prst="ellipse">
            <a:avLst/>
          </a:prstGeom>
          <a:solidFill>
            <a:srgbClr val="0E9AA7"/>
          </a:solidFill>
          <a:ln/>
        </p:spPr>
      </p:sp>
      <p:pic>
        <p:nvPicPr>
          <p:cNvPr id="11" name="Image 1" descr="preencoded.png">    </p:cNvPr>
          <p:cNvPicPr>
            <a:picLocks noChangeAspect="1"/>
          </p:cNvPicPr>
          <p:nvPr/>
        </p:nvPicPr>
        <p:blipFill>
          <a:blip r:embed="rId2"/>
          <a:stretch>
            <a:fillRect/>
          </a:stretch>
        </p:blipFill>
        <p:spPr>
          <a:xfrm>
            <a:off x="1115568" y="3456432"/>
            <a:ext cx="283464" cy="283464"/>
          </a:xfrm>
          <a:prstGeom prst="rect">
            <a:avLst/>
          </a:prstGeom>
        </p:spPr>
      </p:pic>
      <p:sp>
        <p:nvSpPr>
          <p:cNvPr id="12" name="Text 8"/>
          <p:cNvSpPr/>
          <p:nvPr/>
        </p:nvSpPr>
        <p:spPr>
          <a:xfrm>
            <a:off x="1737360" y="3282696"/>
            <a:ext cx="9418320"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CPとAPの2本立て</a:t>
            </a:r>
            <a:endParaRPr lang="en-US" sz="1550" dirty="0"/>
          </a:p>
        </p:txBody>
      </p:sp>
      <p:sp>
        <p:nvSpPr>
          <p:cNvPr id="13" name="Text 9"/>
          <p:cNvSpPr/>
          <p:nvPr/>
        </p:nvSpPr>
        <p:spPr>
          <a:xfrm>
            <a:off x="1737360" y="3621024"/>
            <a:ext cx="9418320" cy="365760"/>
          </a:xfrm>
          <a:prstGeom prst="rect">
            <a:avLst/>
          </a:prstGeom>
          <a:noFill/>
          <a:ln/>
        </p:spPr>
        <p:txBody>
          <a:bodyPr wrap="square" lIns="0" tIns="0" rIns="0" bIns="0" rtlCol="0" anchor="ctr"/>
          <a:lstStyle/>
          <a:p>
            <a:pPr indent="0" marL="0">
              <a:buNone/>
            </a:pPr>
            <a:r>
              <a:rPr lang="en-US" sz="1200" dirty="0">
                <a:solidFill>
                  <a:srgbClr val="BFCDD9"/>
                </a:solidFill>
                <a:latin typeface="Calibri" pitchFamily="34" charset="0"/>
                <a:ea typeface="Calibri" pitchFamily="34" charset="-122"/>
                <a:cs typeface="Calibri" pitchFamily="34" charset="-120"/>
              </a:rPr>
              <a:t>CP＝静的・制御系、AP＝動的・高機能系。置き換えではなく適材適所で共存。</a:t>
            </a:r>
            <a:endParaRPr lang="en-US" sz="1200" dirty="0"/>
          </a:p>
        </p:txBody>
      </p:sp>
      <p:sp>
        <p:nvSpPr>
          <p:cNvPr id="14" name="Shape 10"/>
          <p:cNvSpPr/>
          <p:nvPr/>
        </p:nvSpPr>
        <p:spPr>
          <a:xfrm>
            <a:off x="777240" y="4178808"/>
            <a:ext cx="10607040" cy="868680"/>
          </a:xfrm>
          <a:prstGeom prst="roundRect">
            <a:avLst>
              <a:gd name="adj" fmla="val 7368"/>
            </a:avLst>
          </a:prstGeom>
          <a:solidFill>
            <a:srgbClr val="20344A"/>
          </a:solidFill>
          <a:ln/>
        </p:spPr>
      </p:sp>
      <p:sp>
        <p:nvSpPr>
          <p:cNvPr id="15" name="Shape 11"/>
          <p:cNvSpPr/>
          <p:nvPr/>
        </p:nvSpPr>
        <p:spPr>
          <a:xfrm>
            <a:off x="1005840" y="4361688"/>
            <a:ext cx="502920" cy="502920"/>
          </a:xfrm>
          <a:prstGeom prst="ellipse">
            <a:avLst/>
          </a:prstGeom>
          <a:solidFill>
            <a:srgbClr val="0E9AA7"/>
          </a:solidFill>
          <a:ln/>
        </p:spPr>
      </p:sp>
      <p:pic>
        <p:nvPicPr>
          <p:cNvPr id="16" name="Image 2" descr="preencoded.png">    </p:cNvPr>
          <p:cNvPicPr>
            <a:picLocks noChangeAspect="1"/>
          </p:cNvPicPr>
          <p:nvPr/>
        </p:nvPicPr>
        <p:blipFill>
          <a:blip r:embed="rId3"/>
          <a:stretch>
            <a:fillRect/>
          </a:stretch>
        </p:blipFill>
        <p:spPr>
          <a:xfrm>
            <a:off x="1115568" y="4471416"/>
            <a:ext cx="283464" cy="283464"/>
          </a:xfrm>
          <a:prstGeom prst="rect">
            <a:avLst/>
          </a:prstGeom>
        </p:spPr>
      </p:pic>
      <p:sp>
        <p:nvSpPr>
          <p:cNvPr id="17" name="Text 12"/>
          <p:cNvSpPr/>
          <p:nvPr/>
        </p:nvSpPr>
        <p:spPr>
          <a:xfrm>
            <a:off x="1737360" y="4297680"/>
            <a:ext cx="9418320"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APは汎用組み込み/ITに近い</a:t>
            </a:r>
            <a:endParaRPr lang="en-US" sz="1550" dirty="0"/>
          </a:p>
        </p:txBody>
      </p:sp>
      <p:sp>
        <p:nvSpPr>
          <p:cNvPr id="18" name="Text 13"/>
          <p:cNvSpPr/>
          <p:nvPr/>
        </p:nvSpPr>
        <p:spPr>
          <a:xfrm>
            <a:off x="1737360" y="4636008"/>
            <a:ext cx="9418320" cy="365760"/>
          </a:xfrm>
          <a:prstGeom prst="rect">
            <a:avLst/>
          </a:prstGeom>
          <a:noFill/>
          <a:ln/>
        </p:spPr>
        <p:txBody>
          <a:bodyPr wrap="square" lIns="0" tIns="0" rIns="0" bIns="0" rtlCol="0" anchor="ctr"/>
          <a:lstStyle/>
          <a:p>
            <a:pPr indent="0" marL="0">
              <a:buNone/>
            </a:pPr>
            <a:r>
              <a:rPr lang="en-US" sz="1200" dirty="0">
                <a:solidFill>
                  <a:srgbClr val="BFCDD9"/>
                </a:solidFill>
                <a:latin typeface="Calibri" pitchFamily="34" charset="0"/>
                <a:ea typeface="Calibri" pitchFamily="34" charset="-122"/>
                <a:cs typeface="Calibri" pitchFamily="34" charset="-120"/>
              </a:rPr>
              <a:t>POSIX＋C++＋プロセス分離＋サービス指向。LinuxやSOAの世界観と地続き。</a:t>
            </a:r>
            <a:endParaRPr lang="en-US" sz="1200" dirty="0"/>
          </a:p>
        </p:txBody>
      </p:sp>
      <p:sp>
        <p:nvSpPr>
          <p:cNvPr id="19" name="Shape 14"/>
          <p:cNvSpPr/>
          <p:nvPr/>
        </p:nvSpPr>
        <p:spPr>
          <a:xfrm>
            <a:off x="777240" y="5193792"/>
            <a:ext cx="10607040" cy="868680"/>
          </a:xfrm>
          <a:prstGeom prst="roundRect">
            <a:avLst>
              <a:gd name="adj" fmla="val 7368"/>
            </a:avLst>
          </a:prstGeom>
          <a:solidFill>
            <a:srgbClr val="20344A"/>
          </a:solidFill>
          <a:ln/>
        </p:spPr>
      </p:sp>
      <p:sp>
        <p:nvSpPr>
          <p:cNvPr id="20" name="Shape 15"/>
          <p:cNvSpPr/>
          <p:nvPr/>
        </p:nvSpPr>
        <p:spPr>
          <a:xfrm>
            <a:off x="1005840" y="5376672"/>
            <a:ext cx="502920" cy="502920"/>
          </a:xfrm>
          <a:prstGeom prst="ellipse">
            <a:avLst/>
          </a:prstGeom>
          <a:solidFill>
            <a:srgbClr val="0E9AA7"/>
          </a:solidFill>
          <a:ln/>
        </p:spPr>
      </p:sp>
      <p:pic>
        <p:nvPicPr>
          <p:cNvPr id="21" name="Image 3" descr="preencoded.png">    </p:cNvPr>
          <p:cNvPicPr>
            <a:picLocks noChangeAspect="1"/>
          </p:cNvPicPr>
          <p:nvPr/>
        </p:nvPicPr>
        <p:blipFill>
          <a:blip r:embed="rId4"/>
          <a:stretch>
            <a:fillRect/>
          </a:stretch>
        </p:blipFill>
        <p:spPr>
          <a:xfrm>
            <a:off x="1115568" y="5486400"/>
            <a:ext cx="283464" cy="283464"/>
          </a:xfrm>
          <a:prstGeom prst="rect">
            <a:avLst/>
          </a:prstGeom>
        </p:spPr>
      </p:pic>
      <p:sp>
        <p:nvSpPr>
          <p:cNvPr id="22" name="Text 16"/>
          <p:cNvSpPr/>
          <p:nvPr/>
        </p:nvSpPr>
        <p:spPr>
          <a:xfrm>
            <a:off x="1737360" y="5312664"/>
            <a:ext cx="9418320"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既存スキルが活きる</a:t>
            </a:r>
            <a:endParaRPr lang="en-US" sz="1550" dirty="0"/>
          </a:p>
        </p:txBody>
      </p:sp>
      <p:sp>
        <p:nvSpPr>
          <p:cNvPr id="23" name="Text 17"/>
          <p:cNvSpPr/>
          <p:nvPr/>
        </p:nvSpPr>
        <p:spPr>
          <a:xfrm>
            <a:off x="1737360" y="5650992"/>
            <a:ext cx="9418320" cy="365760"/>
          </a:xfrm>
          <a:prstGeom prst="rect">
            <a:avLst/>
          </a:prstGeom>
          <a:noFill/>
          <a:ln/>
        </p:spPr>
        <p:txBody>
          <a:bodyPr wrap="square" lIns="0" tIns="0" rIns="0" bIns="0" rtlCol="0" anchor="ctr"/>
          <a:lstStyle/>
          <a:p>
            <a:pPr indent="0" marL="0">
              <a:buNone/>
            </a:pPr>
            <a:r>
              <a:rPr lang="en-US" sz="1200" dirty="0">
                <a:solidFill>
                  <a:srgbClr val="BFCDD9"/>
                </a:solidFill>
                <a:latin typeface="Calibri" pitchFamily="34" charset="0"/>
                <a:ea typeface="Calibri" pitchFamily="34" charset="-122"/>
                <a:cs typeface="Calibri" pitchFamily="34" charset="-120"/>
              </a:rPr>
              <a:t>Linux/POSIX、C++、サービス指向の経験は、APを学ぶ強力な足がかりになる。</a:t>
            </a:r>
            <a:endParaRPr lang="en-US" sz="1200" dirty="0"/>
          </a:p>
        </p:txBody>
      </p:sp>
      <p:sp>
        <p:nvSpPr>
          <p:cNvPr id="24" name="Text 18"/>
          <p:cNvSpPr/>
          <p:nvPr/>
        </p:nvSpPr>
        <p:spPr>
          <a:xfrm>
            <a:off x="777240" y="6400800"/>
            <a:ext cx="10515600" cy="320040"/>
          </a:xfrm>
          <a:prstGeom prst="rect">
            <a:avLst/>
          </a:prstGeom>
          <a:noFill/>
          <a:ln/>
        </p:spPr>
        <p:txBody>
          <a:bodyPr wrap="square" lIns="0" tIns="0" rIns="0" bIns="0" rtlCol="0" anchor="ctr"/>
          <a:lstStyle/>
          <a:p>
            <a:pPr indent="0" marL="0">
              <a:buNone/>
            </a:pPr>
            <a:r>
              <a:rPr lang="en-US" sz="1100" dirty="0">
                <a:solidFill>
                  <a:srgbClr val="7E8FA0"/>
                </a:solidFill>
                <a:latin typeface="Calibri" pitchFamily="34" charset="0"/>
                <a:ea typeface="Calibri" pitchFamily="34" charset="-122"/>
                <a:cs typeface="Calibri" pitchFamily="34" charset="-120"/>
              </a:rPr>
              <a:t>出典：MONOist 連載「AUTOSARを使いこなす」（全40回）を基に構成</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AUTOSARとは何か — Adaptive Platformを中心に</dc:title>
  <dc:subject>PptxGenJS Presentation</dc:subject>
  <dc:creator>MONOist『AUTOSARを使いこなす』に基づく解説</dc:creator>
  <cp:lastModifiedBy>MONOist『AUTOSARを使いこなす』に基づく解説</cp:lastModifiedBy>
  <cp:revision>1</cp:revision>
  <dcterms:created xsi:type="dcterms:W3CDTF">2026-06-17T02:27:27Z</dcterms:created>
  <dcterms:modified xsi:type="dcterms:W3CDTF">2026-06-17T02:27:27Z</dcterms:modified>
</cp:coreProperties>
</file>